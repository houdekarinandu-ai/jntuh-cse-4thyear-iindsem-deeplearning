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7" r:id="rId2"/>
    <p:sldId id="258" r:id="rId3"/>
    <p:sldId id="259" r:id="rId4"/>
    <p:sldId id="261" r:id="rId5"/>
    <p:sldId id="262" r:id="rId6"/>
    <p:sldId id="264" r:id="rId7"/>
    <p:sldId id="265" r:id="rId8"/>
    <p:sldId id="267" r:id="rId9"/>
    <p:sldId id="268" r:id="rId10"/>
    <p:sldId id="269" r:id="rId11"/>
    <p:sldId id="271" r:id="rId12"/>
    <p:sldId id="272" r:id="rId13"/>
    <p:sldId id="273" r:id="rId14"/>
    <p:sldId id="289" r:id="rId15"/>
    <p:sldId id="290" r:id="rId16"/>
    <p:sldId id="274" r:id="rId17"/>
    <p:sldId id="275" r:id="rId18"/>
    <p:sldId id="276" r:id="rId19"/>
    <p:sldId id="277" r:id="rId20"/>
    <p:sldId id="278" r:id="rId21"/>
    <p:sldId id="279" r:id="rId22"/>
    <p:sldId id="280" r:id="rId23"/>
    <p:sldId id="281" r:id="rId24"/>
    <p:sldId id="286" r:id="rId25"/>
    <p:sldId id="282" r:id="rId26"/>
    <p:sldId id="287" r:id="rId27"/>
    <p:sldId id="288" r:id="rId28"/>
    <p:sldId id="291" r:id="rId29"/>
    <p:sldId id="309" r:id="rId30"/>
    <p:sldId id="310" r:id="rId31"/>
    <p:sldId id="325" r:id="rId32"/>
    <p:sldId id="292" r:id="rId33"/>
    <p:sldId id="293" r:id="rId34"/>
    <p:sldId id="294" r:id="rId35"/>
    <p:sldId id="295" r:id="rId36"/>
    <p:sldId id="296" r:id="rId37"/>
    <p:sldId id="297" r:id="rId38"/>
    <p:sldId id="298" r:id="rId39"/>
    <p:sldId id="299" r:id="rId40"/>
    <p:sldId id="300" r:id="rId41"/>
    <p:sldId id="301" r:id="rId42"/>
    <p:sldId id="303" r:id="rId43"/>
    <p:sldId id="305" r:id="rId44"/>
    <p:sldId id="306" r:id="rId45"/>
    <p:sldId id="307" r:id="rId46"/>
    <p:sldId id="308" r:id="rId47"/>
    <p:sldId id="311" r:id="rId48"/>
    <p:sldId id="312" r:id="rId49"/>
    <p:sldId id="313" r:id="rId50"/>
    <p:sldId id="314" r:id="rId51"/>
    <p:sldId id="315" r:id="rId52"/>
    <p:sldId id="317" r:id="rId53"/>
    <p:sldId id="326" r:id="rId54"/>
    <p:sldId id="318" r:id="rId55"/>
    <p:sldId id="319" r:id="rId56"/>
    <p:sldId id="320" r:id="rId57"/>
    <p:sldId id="321" r:id="rId58"/>
    <p:sldId id="322" r:id="rId59"/>
    <p:sldId id="323" r:id="rId60"/>
    <p:sldId id="324" r:id="rId61"/>
  </p:sldIdLst>
  <p:sldSz cx="9144000" cy="6858000" type="screen4x3"/>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3" autoAdjust="0"/>
    <p:restoredTop sz="86420" autoAdjust="0"/>
  </p:normalViewPr>
  <p:slideViewPr>
    <p:cSldViewPr>
      <p:cViewPr varScale="1">
        <p:scale>
          <a:sx n="76" d="100"/>
          <a:sy n="76" d="100"/>
        </p:scale>
        <p:origin x="-1498" y="-77"/>
      </p:cViewPr>
      <p:guideLst>
        <p:guide orient="horz" pos="2160"/>
        <p:guide pos="2880"/>
      </p:guideLst>
    </p:cSldViewPr>
  </p:slideViewPr>
  <p:outlineViewPr>
    <p:cViewPr>
      <p:scale>
        <a:sx n="33" d="100"/>
        <a:sy n="33" d="100"/>
      </p:scale>
      <p:origin x="0" y="19022"/>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F73F0BFC-2C88-4AAF-B42F-33B416312C7A}" type="datetimeFigureOut">
              <a:rPr lang="en-US" smtClean="0"/>
              <a:pPr/>
              <a:t>8/30/2023</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E6FB1B62-A5F7-43C1-BF55-5D6EB0E052F4}"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73F0BFC-2C88-4AAF-B42F-33B416312C7A}"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FB1B62-A5F7-43C1-BF55-5D6EB0E052F4}"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F73F0BFC-2C88-4AAF-B42F-33B416312C7A}" type="datetimeFigureOut">
              <a:rPr lang="en-US" smtClean="0"/>
              <a:pPr/>
              <a:t>8/30/2023</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E6FB1B62-A5F7-43C1-BF55-5D6EB0E052F4}"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73F0BFC-2C88-4AAF-B42F-33B416312C7A}" type="datetimeFigureOut">
              <a:rPr lang="en-US" smtClean="0"/>
              <a:pPr/>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FB1B62-A5F7-43C1-BF55-5D6EB0E052F4}"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73F0BFC-2C88-4AAF-B42F-33B416312C7A}" type="datetimeFigureOut">
              <a:rPr lang="en-US" smtClean="0"/>
              <a:pPr/>
              <a:t>8/30/2023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FB1B62-A5F7-43C1-BF55-5D6EB0E052F4}"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73F0BFC-2C88-4AAF-B42F-33B416312C7A}" type="datetimeFigureOut">
              <a:rPr lang="en-US" smtClean="0"/>
              <a:pPr/>
              <a:t>8/30/2023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FB1B62-A5F7-43C1-BF55-5D6EB0E052F4}"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3F0BFC-2C88-4AAF-B42F-33B416312C7A}" type="datetimeFigureOut">
              <a:rPr lang="en-US" smtClean="0"/>
              <a:pPr/>
              <a:t>8/30/2023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FB1B62-A5F7-43C1-BF55-5D6EB0E052F4}"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73F0BFC-2C88-4AAF-B42F-33B416312C7A}" type="datetimeFigureOut">
              <a:rPr lang="en-US" smtClean="0"/>
              <a:pPr/>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FB1B62-A5F7-43C1-BF55-5D6EB0E052F4}"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73F0BFC-2C88-4AAF-B42F-33B416312C7A}" type="datetimeFigureOut">
              <a:rPr lang="en-US" smtClean="0"/>
              <a:pPr/>
              <a:t>8/30/2023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FB1B62-A5F7-43C1-BF55-5D6EB0E052F4}"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3F0BFC-2C88-4AAF-B42F-33B416312C7A}"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FB1B62-A5F7-43C1-BF55-5D6EB0E052F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3F0BFC-2C88-4AAF-B42F-33B416312C7A}" type="datetimeFigureOut">
              <a:rPr lang="en-US" smtClean="0"/>
              <a:pPr/>
              <a:t>8/30/2023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FB1B62-A5F7-43C1-BF55-5D6EB0E052F4}"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F73F0BFC-2C88-4AAF-B42F-33B416312C7A}" type="datetimeFigureOut">
              <a:rPr lang="en-US" smtClean="0"/>
              <a:pPr/>
              <a:t>8/30/2023</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6FB1B62-A5F7-43C1-BF55-5D6EB0E052F4}"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eeksforgeeks.org/natural-language-processing-nlp-tutorial/"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eksforgeeks.org/introduction-convolution-neural-network/" TargetMode="External"/><Relationship Id="rId2" Type="http://schemas.openxmlformats.org/officeDocument/2006/relationships/hyperlink" Target="https://www.geeksforgeeks.org/understanding-multi-layer-feed-forward-network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geeksforgeeks.org/recurrent-neural-networks-explanatio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b="1" dirty="0" smtClean="0"/>
              <a:t>UNIT II: Introducing Deep Learning: </a:t>
            </a:r>
            <a:r>
              <a:rPr lang="en-US" dirty="0" smtClean="0"/>
              <a:t>Biological and Machine Vision, Human and Machine Language, Artificial Neural Networks, Training Deep Networks, Improving Deep Networks.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puter Vision"/>
          <p:cNvPicPr/>
          <p:nvPr/>
        </p:nvPicPr>
        <p:blipFill>
          <a:blip r:embed="rId2"/>
          <a:srcRect/>
          <a:stretch>
            <a:fillRect/>
          </a:stretch>
        </p:blipFill>
        <p:spPr bwMode="auto">
          <a:xfrm>
            <a:off x="381000" y="609600"/>
            <a:ext cx="8305800" cy="5867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puter Vision"/>
          <p:cNvPicPr/>
          <p:nvPr/>
        </p:nvPicPr>
        <p:blipFill>
          <a:blip r:embed="rId2"/>
          <a:srcRect/>
          <a:stretch>
            <a:fillRect/>
          </a:stretch>
        </p:blipFill>
        <p:spPr bwMode="auto">
          <a:xfrm>
            <a:off x="304800" y="914400"/>
            <a:ext cx="8839200" cy="5029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smtClean="0"/>
              <a:t>Applications of computer vision</a:t>
            </a:r>
            <a:r>
              <a:rPr b="1" smtClean="0"/>
              <a:t/>
            </a:r>
            <a:br>
              <a:rPr b="1" smtClean="0"/>
            </a:br>
            <a:endParaRPr lang="en-US" dirty="0"/>
          </a:p>
        </p:txBody>
      </p:sp>
      <p:sp>
        <p:nvSpPr>
          <p:cNvPr id="2" name="Content Placeholder 1"/>
          <p:cNvSpPr>
            <a:spLocks noGrp="1"/>
          </p:cNvSpPr>
          <p:nvPr>
            <p:ph sz="quarter" idx="1"/>
          </p:nvPr>
        </p:nvSpPr>
        <p:spPr/>
        <p:txBody>
          <a:bodyPr>
            <a:normAutofit fontScale="92500" lnSpcReduction="10000"/>
          </a:bodyPr>
          <a:lstStyle/>
          <a:p>
            <a:pPr lvl="0"/>
            <a:r>
              <a:rPr lang="en-US" b="1" dirty="0" smtClean="0"/>
              <a:t>Facial recognition</a:t>
            </a:r>
            <a:endParaRPr lang="en-US" dirty="0" smtClean="0"/>
          </a:p>
          <a:p>
            <a:pPr lvl="0"/>
            <a:r>
              <a:rPr lang="en-US" b="1" dirty="0" smtClean="0"/>
              <a:t>Healthcare and Medicine</a:t>
            </a:r>
            <a:r>
              <a:rPr lang="en-US" dirty="0" smtClean="0"/>
              <a:t> </a:t>
            </a:r>
          </a:p>
          <a:p>
            <a:pPr lvl="0"/>
            <a:r>
              <a:rPr lang="en-US" b="1" dirty="0" smtClean="0"/>
              <a:t>Self-driving vehicles:</a:t>
            </a:r>
            <a:r>
              <a:rPr lang="en-US" dirty="0" smtClean="0"/>
              <a:t> </a:t>
            </a:r>
          </a:p>
          <a:p>
            <a:pPr lvl="0"/>
            <a:r>
              <a:rPr lang="en-US" b="1" dirty="0" smtClean="0"/>
              <a:t>Optical character recognition (OCR)</a:t>
            </a:r>
          </a:p>
          <a:p>
            <a:pPr lvl="0"/>
            <a:r>
              <a:rPr lang="en-US" b="1" dirty="0" smtClean="0"/>
              <a:t>Retail (e.g., automated checkouts)</a:t>
            </a:r>
            <a:endParaRPr lang="en-US" dirty="0" smtClean="0"/>
          </a:p>
          <a:p>
            <a:pPr lvl="0"/>
            <a:r>
              <a:rPr lang="en-US" b="1" dirty="0" smtClean="0"/>
              <a:t>3D model building:</a:t>
            </a:r>
            <a:r>
              <a:rPr lang="en-US" dirty="0" smtClean="0"/>
              <a:t> </a:t>
            </a:r>
          </a:p>
          <a:p>
            <a:pPr lvl="0"/>
            <a:r>
              <a:rPr lang="en-US" b="1" dirty="0" smtClean="0"/>
              <a:t>Medical imaging:</a:t>
            </a:r>
            <a:r>
              <a:rPr lang="en-US" dirty="0" smtClean="0"/>
              <a:t> E.g., Computed Tomography (CT) or Magnetic Resonance Imaging (MRI) scanner</a:t>
            </a:r>
          </a:p>
          <a:p>
            <a:pPr lvl="0"/>
            <a:r>
              <a:rPr lang="en-US" b="1" dirty="0" smtClean="0"/>
              <a:t>Automotive safety</a:t>
            </a:r>
            <a:endParaRPr lang="en-US" dirty="0" smtClean="0"/>
          </a:p>
          <a:p>
            <a:pPr lvl="0"/>
            <a:r>
              <a:rPr lang="en-US" b="1" dirty="0" smtClean="0"/>
              <a:t>Surveillance:</a:t>
            </a:r>
            <a:r>
              <a:rPr lang="en-US" dirty="0" smtClean="0"/>
              <a:t> </a:t>
            </a:r>
          </a:p>
          <a:p>
            <a:pPr lvl="0"/>
            <a:r>
              <a:rPr lang="en-US" b="1" dirty="0" smtClean="0"/>
              <a:t>Fingerprint recognition and biometrics:</a:t>
            </a:r>
            <a:r>
              <a:rPr lang="en-US" dirty="0" smtClean="0"/>
              <a:t>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dirty="0" smtClean="0"/>
              <a:t/>
            </a:r>
            <a:br>
              <a:rPr lang="en-US" dirty="0" smtClean="0"/>
            </a:br>
            <a:r>
              <a:rPr b="1" smtClean="0"/>
              <a:t/>
            </a:r>
            <a:br>
              <a:rPr b="1" smtClean="0"/>
            </a:br>
            <a:r>
              <a:rPr lang="en-US" b="1" dirty="0" smtClean="0"/>
              <a:t>Human and Machine Language </a:t>
            </a:r>
            <a:endParaRPr lang="en-US" dirty="0"/>
          </a:p>
        </p:txBody>
      </p:sp>
      <p:sp>
        <p:nvSpPr>
          <p:cNvPr id="2" name="Content Placeholder 1"/>
          <p:cNvSpPr>
            <a:spLocks noGrp="1"/>
          </p:cNvSpPr>
          <p:nvPr>
            <p:ph sz="quarter" idx="1"/>
          </p:nvPr>
        </p:nvSpPr>
        <p:spPr>
          <a:xfrm>
            <a:off x="457200" y="1219200"/>
            <a:ext cx="8229600" cy="4267200"/>
          </a:xfrm>
        </p:spPr>
        <p:txBody>
          <a:bodyPr>
            <a:normAutofit/>
          </a:bodyPr>
          <a:lstStyle/>
          <a:p>
            <a:pPr algn="just"/>
            <a:r>
              <a:rPr lang="en-US" b="1" dirty="0" smtClean="0"/>
              <a:t>Human language </a:t>
            </a:r>
            <a:r>
              <a:rPr lang="en-US" dirty="0" smtClean="0"/>
              <a:t>is a complex and dynamic system of communication used by humans to express thoughts, ideas, and emotions. </a:t>
            </a:r>
          </a:p>
          <a:p>
            <a:pPr algn="just"/>
            <a:r>
              <a:rPr lang="en-US" dirty="0" smtClean="0"/>
              <a:t>Human languages exist in three fields – speech, writing, and gesture</a:t>
            </a:r>
          </a:p>
          <a:p>
            <a:pPr algn="just"/>
            <a:r>
              <a:rPr lang="en-US" b="1" dirty="0" smtClean="0"/>
              <a:t>Machine language</a:t>
            </a:r>
            <a:r>
              <a:rPr lang="en-US" dirty="0" smtClean="0"/>
              <a:t> is a low-level language made up of binary numbers or bits that a computer can understand. It is also known as machine code or object code and is extremely tough to comprehend. The only language that the computer understands is machine language. </a:t>
            </a:r>
          </a:p>
          <a:p>
            <a:pPr algn="just"/>
            <a:endParaRPr lang="en-US" dirty="0"/>
          </a:p>
        </p:txBody>
      </p:sp>
      <p:pic>
        <p:nvPicPr>
          <p:cNvPr id="4" name="Picture 2" descr="What is Machine Language"/>
          <p:cNvPicPr>
            <a:picLocks noChangeAspect="1" noChangeArrowheads="1"/>
          </p:cNvPicPr>
          <p:nvPr/>
        </p:nvPicPr>
        <p:blipFill>
          <a:blip r:embed="rId2"/>
          <a:srcRect/>
          <a:stretch>
            <a:fillRect/>
          </a:stretch>
        </p:blipFill>
        <p:spPr bwMode="auto">
          <a:xfrm>
            <a:off x="2209800" y="5410200"/>
            <a:ext cx="3333750" cy="952501"/>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b="1" dirty="0" smtClean="0"/>
              <a:t>Natural Language Processing</a:t>
            </a:r>
            <a:endParaRPr lang="en-US" dirty="0"/>
          </a:p>
        </p:txBody>
      </p:sp>
      <p:sp>
        <p:nvSpPr>
          <p:cNvPr id="3" name="Content Placeholder 2"/>
          <p:cNvSpPr>
            <a:spLocks noGrp="1"/>
          </p:cNvSpPr>
          <p:nvPr>
            <p:ph sz="quarter" idx="1"/>
          </p:nvPr>
        </p:nvSpPr>
        <p:spPr>
          <a:xfrm>
            <a:off x="457200" y="1219200"/>
            <a:ext cx="8229600" cy="2514600"/>
          </a:xfrm>
        </p:spPr>
        <p:txBody>
          <a:bodyPr/>
          <a:lstStyle/>
          <a:p>
            <a:pPr algn="just" fontAlgn="base"/>
            <a:r>
              <a:rPr lang="en-US" u="sng" dirty="0" smtClean="0">
                <a:hlinkClick r:id="rId2"/>
              </a:rPr>
              <a:t>Natural Language Processing (NLP)</a:t>
            </a:r>
            <a:r>
              <a:rPr lang="en-US" dirty="0" smtClean="0"/>
              <a:t> is a field of Artificial Intelligence (AI) and Computer Science that is concerned with the interactions between computers and humans in natural language. The goal of NLP is to develop algorithms and models that enable computers to understand, interpret, generate, and manipulate human languages.</a:t>
            </a:r>
          </a:p>
          <a:p>
            <a:pPr algn="just"/>
            <a:endParaRPr lang="en-US" dirty="0"/>
          </a:p>
        </p:txBody>
      </p:sp>
      <p:pic>
        <p:nvPicPr>
          <p:cNvPr id="7" name="Picture 6" descr="What is NLP"/>
          <p:cNvPicPr/>
          <p:nvPr/>
        </p:nvPicPr>
        <p:blipFill>
          <a:blip r:embed="rId3"/>
          <a:srcRect/>
          <a:stretch>
            <a:fillRect/>
          </a:stretch>
        </p:blipFill>
        <p:spPr bwMode="auto">
          <a:xfrm>
            <a:off x="762000" y="3733800"/>
            <a:ext cx="3676650" cy="2800350"/>
          </a:xfrm>
          <a:prstGeom prst="rect">
            <a:avLst/>
          </a:prstGeom>
          <a:noFill/>
          <a:ln w="9525">
            <a:noFill/>
            <a:miter lim="800000"/>
            <a:headEnd/>
            <a:tailEnd/>
          </a:ln>
        </p:spPr>
      </p:pic>
      <p:pic>
        <p:nvPicPr>
          <p:cNvPr id="8" name="Picture 7" descr="AI, machine learning, deep learning — buzzwords explained"/>
          <p:cNvPicPr/>
          <p:nvPr/>
        </p:nvPicPr>
        <p:blipFill>
          <a:blip r:embed="rId4" cstate="print"/>
          <a:srcRect/>
          <a:stretch>
            <a:fillRect/>
          </a:stretch>
        </p:blipFill>
        <p:spPr bwMode="auto">
          <a:xfrm>
            <a:off x="4800600" y="3886200"/>
            <a:ext cx="33528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19200"/>
            <a:ext cx="8229600" cy="4419600"/>
          </a:xfrm>
        </p:spPr>
        <p:txBody>
          <a:bodyPr>
            <a:normAutofit lnSpcReduction="10000"/>
          </a:bodyPr>
          <a:lstStyle/>
          <a:p>
            <a:pPr algn="just"/>
            <a:r>
              <a:rPr lang="en-US" sz="2800" b="1" dirty="0" smtClean="0"/>
              <a:t>Natural Language Processing </a:t>
            </a:r>
            <a:r>
              <a:rPr lang="en-US" sz="2800" dirty="0" smtClean="0"/>
              <a:t>(NLP) is a subfield of artificial intelligence that deals with the interaction between computers and humans in natural language. It involves the use of computational techniques to process and analyze natural language data, such as text and speech, with the goal of understanding the meaning behind the language.</a:t>
            </a:r>
          </a:p>
          <a:p>
            <a:pPr algn="just"/>
            <a:r>
              <a:rPr lang="en-US" sz="2800" dirty="0" smtClean="0"/>
              <a:t>NLP is used in a wide range of applications, including machine translation, sentiment analysis, speech recognition, </a:t>
            </a:r>
            <a:r>
              <a:rPr lang="en-US" sz="2800" dirty="0" err="1" smtClean="0"/>
              <a:t>chatbots</a:t>
            </a:r>
            <a:r>
              <a:rPr lang="en-US" sz="2800" dirty="0" smtClean="0"/>
              <a:t>, and text classification</a:t>
            </a:r>
          </a:p>
          <a:p>
            <a:pPr algn="just"/>
            <a:endParaRPr 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common techniques used in NLP include:</a:t>
            </a:r>
            <a:endParaRPr lang="en-US" dirty="0"/>
          </a:p>
        </p:txBody>
      </p:sp>
      <p:sp>
        <p:nvSpPr>
          <p:cNvPr id="3" name="Content Placeholder 2"/>
          <p:cNvSpPr>
            <a:spLocks noGrp="1"/>
          </p:cNvSpPr>
          <p:nvPr>
            <p:ph sz="quarter" idx="1"/>
          </p:nvPr>
        </p:nvSpPr>
        <p:spPr/>
        <p:txBody>
          <a:bodyPr>
            <a:normAutofit fontScale="92500" lnSpcReduction="20000"/>
          </a:bodyPr>
          <a:lstStyle/>
          <a:p>
            <a:pPr lvl="0" algn="just" fontAlgn="base"/>
            <a:r>
              <a:rPr lang="en-US" b="1" dirty="0" smtClean="0"/>
              <a:t>Tokenization:</a:t>
            </a:r>
            <a:r>
              <a:rPr lang="en-US" dirty="0" smtClean="0"/>
              <a:t> the process of breaking text into individual words or phrases.</a:t>
            </a:r>
          </a:p>
          <a:p>
            <a:pPr lvl="0" algn="just" fontAlgn="base"/>
            <a:r>
              <a:rPr lang="en-US" b="1" dirty="0" smtClean="0"/>
              <a:t>Part-of-speech tagging</a:t>
            </a:r>
            <a:r>
              <a:rPr lang="en-US" dirty="0" smtClean="0"/>
              <a:t>: the process of labeling each word in a sentence with its grammatical part of speech.</a:t>
            </a:r>
          </a:p>
          <a:p>
            <a:pPr lvl="0" algn="just" fontAlgn="base"/>
            <a:r>
              <a:rPr lang="en-US" b="1" dirty="0" smtClean="0"/>
              <a:t>Named entity recognit</a:t>
            </a:r>
            <a:r>
              <a:rPr lang="en-US" dirty="0" smtClean="0"/>
              <a:t>ion: the process of identifying and categorizing named entities, such as people, places, and organizations, in text.</a:t>
            </a:r>
          </a:p>
          <a:p>
            <a:pPr lvl="0" algn="just" fontAlgn="base"/>
            <a:r>
              <a:rPr lang="en-US" b="1" dirty="0" smtClean="0"/>
              <a:t>Sentiment analysis</a:t>
            </a:r>
            <a:r>
              <a:rPr lang="en-US" dirty="0" smtClean="0"/>
              <a:t>: the process of determining the sentiment of a piece of text, such as whether it is positive, negative, or neutral.</a:t>
            </a:r>
          </a:p>
          <a:p>
            <a:pPr lvl="0" algn="just" fontAlgn="base"/>
            <a:r>
              <a:rPr lang="en-US" b="1" dirty="0" smtClean="0"/>
              <a:t>Machine translation</a:t>
            </a:r>
            <a:r>
              <a:rPr lang="en-US" dirty="0" smtClean="0"/>
              <a:t>: the process of automatically translating text from one language to another.</a:t>
            </a:r>
          </a:p>
          <a:p>
            <a:pPr lvl="0" algn="just" fontAlgn="base"/>
            <a:r>
              <a:rPr lang="en-US" b="1" dirty="0" smtClean="0"/>
              <a:t>Text classification</a:t>
            </a:r>
            <a:r>
              <a:rPr lang="en-US" dirty="0" smtClean="0"/>
              <a:t>: the process of categorizing text into predefined categories or topics.</a:t>
            </a:r>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lgn="just" fontAlgn="base"/>
            <a:r>
              <a:rPr lang="en-US" dirty="0" smtClean="0"/>
              <a:t>Recent advances in deep learning, particularly in the area of neural networks, have led to significant improvements in the performance of NLP systems. </a:t>
            </a:r>
          </a:p>
          <a:p>
            <a:pPr algn="just" fontAlgn="base"/>
            <a:r>
              <a:rPr lang="en-US" dirty="0" smtClean="0"/>
              <a:t>Deep learning techniques such as </a:t>
            </a:r>
            <a:r>
              <a:rPr lang="en-US" dirty="0" err="1" smtClean="0"/>
              <a:t>Convolutional</a:t>
            </a:r>
            <a:r>
              <a:rPr lang="en-US" dirty="0" smtClean="0"/>
              <a:t> Neural Networks (CNNs) and Recurrent Neural Networks (RNNs) have been applied to tasks such as sentiment analysis and machine translation, achieving state-of-the-art results.</a:t>
            </a:r>
          </a:p>
          <a:p>
            <a:pPr algn="just"/>
            <a:r>
              <a:rPr lang="en-US" dirty="0" smtClean="0"/>
              <a:t>Overall, NLP is a rapidly evolving field that has the potential to revolutionize the way we interact with computers and the world around us.</a:t>
            </a:r>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Working of Natural Language Processing (NLP) </a:t>
            </a:r>
            <a:endParaRPr lang="en-US" dirty="0"/>
          </a:p>
        </p:txBody>
      </p:sp>
      <p:sp>
        <p:nvSpPr>
          <p:cNvPr id="3" name="Content Placeholder 2"/>
          <p:cNvSpPr>
            <a:spLocks noGrp="1"/>
          </p:cNvSpPr>
          <p:nvPr>
            <p:ph sz="quarter" idx="1"/>
          </p:nvPr>
        </p:nvSpPr>
        <p:spPr/>
        <p:txBody>
          <a:bodyPr>
            <a:normAutofit lnSpcReduction="10000"/>
          </a:bodyPr>
          <a:lstStyle/>
          <a:p>
            <a:pPr algn="just" fontAlgn="base"/>
            <a:r>
              <a:rPr lang="en-US" dirty="0" smtClean="0"/>
              <a:t>Working in natural language processing (NLP) typically involves using computational techniques to analyze and understand human language. This can include tasks such as language understanding, language generation, and language interaction.</a:t>
            </a:r>
          </a:p>
          <a:p>
            <a:pPr algn="just" fontAlgn="base">
              <a:buNone/>
            </a:pPr>
            <a:r>
              <a:rPr lang="en-US" dirty="0" smtClean="0"/>
              <a:t>The field is divided into  three different parts:</a:t>
            </a:r>
          </a:p>
          <a:p>
            <a:pPr lvl="0" algn="just" fontAlgn="base"/>
            <a:r>
              <a:rPr lang="en-US" b="1" dirty="0" smtClean="0"/>
              <a:t>Speech Recognition</a:t>
            </a:r>
            <a:r>
              <a:rPr lang="en-US" dirty="0" smtClean="0"/>
              <a:t> — The translation of spoken language into text.</a:t>
            </a:r>
          </a:p>
          <a:p>
            <a:pPr lvl="0" algn="just" fontAlgn="base"/>
            <a:r>
              <a:rPr lang="en-US" b="1" dirty="0" smtClean="0"/>
              <a:t>Natural Language Understanding (NLU</a:t>
            </a:r>
            <a:r>
              <a:rPr lang="en-US" dirty="0" smtClean="0"/>
              <a:t>)  — The computer’s ability to understand what we say.</a:t>
            </a:r>
          </a:p>
          <a:p>
            <a:pPr lvl="0" algn="just" fontAlgn="base"/>
            <a:r>
              <a:rPr lang="en-US" b="1" dirty="0" smtClean="0"/>
              <a:t>Natural Language Generation  (NLG) </a:t>
            </a:r>
            <a:r>
              <a:rPr lang="en-US" dirty="0" smtClean="0"/>
              <a:t>— The generation of natural language by a computer.</a:t>
            </a:r>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Speech Recognition:</a:t>
            </a:r>
            <a:endParaRPr lang="en-US" dirty="0"/>
          </a:p>
        </p:txBody>
      </p:sp>
      <p:sp>
        <p:nvSpPr>
          <p:cNvPr id="3" name="Content Placeholder 2"/>
          <p:cNvSpPr>
            <a:spLocks noGrp="1"/>
          </p:cNvSpPr>
          <p:nvPr>
            <p:ph sz="quarter" idx="1"/>
          </p:nvPr>
        </p:nvSpPr>
        <p:spPr/>
        <p:txBody>
          <a:bodyPr>
            <a:normAutofit/>
          </a:bodyPr>
          <a:lstStyle/>
          <a:p>
            <a:pPr lvl="0" fontAlgn="base"/>
            <a:r>
              <a:rPr lang="en-US" dirty="0" smtClean="0"/>
              <a:t>First, the computer must take natural language and convert it into machine-readable language. This is what speech recognition or speech-to-text does. This is the first step of NLU.</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Natural Language Understanding (NLU):</a:t>
            </a:r>
            <a:br>
              <a:rPr lang="en-US" b="1" i="1" dirty="0" smtClean="0"/>
            </a:br>
            <a:endParaRPr lang="en-US" dirty="0"/>
          </a:p>
        </p:txBody>
      </p:sp>
      <p:sp>
        <p:nvSpPr>
          <p:cNvPr id="3" name="Content Placeholder 2"/>
          <p:cNvSpPr>
            <a:spLocks noGrp="1"/>
          </p:cNvSpPr>
          <p:nvPr>
            <p:ph sz="quarter" idx="1"/>
          </p:nvPr>
        </p:nvSpPr>
        <p:spPr/>
        <p:txBody>
          <a:bodyPr>
            <a:normAutofit/>
          </a:bodyPr>
          <a:lstStyle/>
          <a:p>
            <a:pPr fontAlgn="base"/>
            <a:r>
              <a:rPr lang="en-US" dirty="0" smtClean="0"/>
              <a:t>The next and hardest step of NLP is the understanding part.</a:t>
            </a:r>
          </a:p>
          <a:p>
            <a:pPr lvl="0" fontAlgn="base"/>
            <a:r>
              <a:rPr lang="en-US" dirty="0" smtClean="0"/>
              <a:t>First, the computer must comprehend the meaning of each word. It tries to figure out whether the word is a noun or a verb, whether it’s in the past or present tense, and so on. This is called Part-of-Speech tagging (POS).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Natural Language Generation (NLG):</a:t>
            </a:r>
            <a:endParaRPr lang="en-US" dirty="0"/>
          </a:p>
        </p:txBody>
      </p:sp>
      <p:sp>
        <p:nvSpPr>
          <p:cNvPr id="3" name="Content Placeholder 2"/>
          <p:cNvSpPr>
            <a:spLocks noGrp="1"/>
          </p:cNvSpPr>
          <p:nvPr>
            <p:ph sz="quarter" idx="1"/>
          </p:nvPr>
        </p:nvSpPr>
        <p:spPr/>
        <p:txBody>
          <a:bodyPr>
            <a:normAutofit/>
          </a:bodyPr>
          <a:lstStyle/>
          <a:p>
            <a:pPr fontAlgn="base"/>
            <a:r>
              <a:rPr lang="en-US" dirty="0" smtClean="0"/>
              <a:t>NLG is much simpler to accomplish. NLG converts a computer’s machine-readable language into text and can also convert that text into audible speech using text-to-speech technology.</a:t>
            </a:r>
          </a:p>
          <a:p>
            <a:pPr lvl="0" fontAlgn="base"/>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2" cstate="print"/>
          <a:stretch>
            <a:fillRect/>
          </a:stretch>
        </p:blipFill>
        <p:spPr>
          <a:xfrm>
            <a:off x="838200" y="381000"/>
            <a:ext cx="7156577" cy="63246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2" cstate="print"/>
          <a:stretch>
            <a:fillRect/>
          </a:stretch>
        </p:blipFill>
        <p:spPr>
          <a:xfrm>
            <a:off x="1447800" y="152400"/>
            <a:ext cx="5942203" cy="6476999"/>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Question Answering</a:t>
            </a:r>
            <a:endParaRPr lang="en-US" dirty="0"/>
          </a:p>
        </p:txBody>
      </p:sp>
      <p:sp>
        <p:nvSpPr>
          <p:cNvPr id="20481" name="Rectangle 1"/>
          <p:cNvSpPr>
            <a:spLocks noChangeArrowheads="1"/>
          </p:cNvSpPr>
          <p:nvPr/>
        </p:nvSpPr>
        <p:spPr bwMode="auto">
          <a:xfrm>
            <a:off x="0" y="0"/>
            <a:ext cx="9144000" cy="45720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333333"/>
                </a:solidFill>
                <a:effectLst/>
                <a:latin typeface="inter-bold"/>
                <a:cs typeface="Arial" pitchFamily="34" charset="0"/>
              </a:rPr>
              <a:t>Question Answering</a:t>
            </a:r>
            <a:endParaRPr kumimoji="0" lang="en-US"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333333"/>
                </a:solidFill>
                <a:effectLst/>
                <a:latin typeface="inter-regular"/>
                <a:cs typeface="Arial" pitchFamily="34" charset="0"/>
              </a:rPr>
              <a:t>Question Answering focuses on building systems that automatically answer the questions asked by humans in a natural language.</a:t>
            </a:r>
            <a:endParaRPr kumimoji="0" lang="en-US"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t>
            </a:r>
            <a:r>
              <a:rPr kumimoji="0" lang="en-US" sz="206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482" name="Picture 2" descr="Applications of NLP"/>
          <p:cNvPicPr>
            <a:picLocks noChangeAspect="1" noChangeArrowheads="1"/>
          </p:cNvPicPr>
          <p:nvPr/>
        </p:nvPicPr>
        <p:blipFill>
          <a:blip r:embed="rId2"/>
          <a:srcRect/>
          <a:stretch>
            <a:fillRect/>
          </a:stretch>
        </p:blipFill>
        <p:spPr bwMode="auto">
          <a:xfrm>
            <a:off x="2971800" y="2057400"/>
            <a:ext cx="3238500" cy="32766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Spam Detection</a:t>
            </a:r>
            <a:endParaRPr lang="en-US" dirty="0"/>
          </a:p>
        </p:txBody>
      </p:sp>
      <p:pic>
        <p:nvPicPr>
          <p:cNvPr id="30722" name="Picture 2" descr="Applications of NLP"/>
          <p:cNvPicPr>
            <a:picLocks noChangeAspect="1" noChangeArrowheads="1"/>
          </p:cNvPicPr>
          <p:nvPr/>
        </p:nvPicPr>
        <p:blipFill>
          <a:blip r:embed="rId2"/>
          <a:srcRect/>
          <a:stretch>
            <a:fillRect/>
          </a:stretch>
        </p:blipFill>
        <p:spPr bwMode="auto">
          <a:xfrm>
            <a:off x="1219200" y="2971800"/>
            <a:ext cx="4762500" cy="2409826"/>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Sentiment Analysis</a:t>
            </a:r>
            <a:endParaRPr lang="en-US" dirty="0"/>
          </a:p>
        </p:txBody>
      </p:sp>
      <p:pic>
        <p:nvPicPr>
          <p:cNvPr id="31746" name="Picture 2" descr="Applications of NLP"/>
          <p:cNvPicPr>
            <a:picLocks noChangeAspect="1" noChangeArrowheads="1"/>
          </p:cNvPicPr>
          <p:nvPr/>
        </p:nvPicPr>
        <p:blipFill>
          <a:blip r:embed="rId2"/>
          <a:srcRect/>
          <a:stretch>
            <a:fillRect/>
          </a:stretch>
        </p:blipFill>
        <p:spPr bwMode="auto">
          <a:xfrm>
            <a:off x="1066800" y="3505200"/>
            <a:ext cx="5715000" cy="1981201"/>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endParaRPr lang="en-US" dirty="0"/>
          </a:p>
        </p:txBody>
      </p:sp>
      <p:sp>
        <p:nvSpPr>
          <p:cNvPr id="3" name="Content Placeholder 2"/>
          <p:cNvSpPr>
            <a:spLocks noGrp="1"/>
          </p:cNvSpPr>
          <p:nvPr>
            <p:ph sz="quarter" idx="1"/>
          </p:nvPr>
        </p:nvSpPr>
        <p:spPr/>
        <p:txBody>
          <a:bodyPr/>
          <a:lstStyle/>
          <a:p>
            <a:r>
              <a:rPr lang="en-US" b="1" dirty="0" smtClean="0"/>
              <a:t>Machine Translation:  </a:t>
            </a:r>
            <a:r>
              <a:rPr lang="en-US" dirty="0" smtClean="0"/>
              <a:t>English to </a:t>
            </a:r>
            <a:r>
              <a:rPr lang="en-US" dirty="0" err="1" smtClean="0"/>
              <a:t>hindi</a:t>
            </a:r>
            <a:endParaRPr lang="en-US" dirty="0" smtClean="0"/>
          </a:p>
          <a:p>
            <a:r>
              <a:rPr lang="en-US" b="1" dirty="0" smtClean="0"/>
              <a:t>Spelling </a:t>
            </a:r>
            <a:r>
              <a:rPr lang="en-US" b="1" dirty="0" err="1" smtClean="0"/>
              <a:t>correction:</a:t>
            </a:r>
            <a:r>
              <a:rPr lang="en-US" dirty="0" err="1" smtClean="0"/>
              <a:t>Microsoft</a:t>
            </a:r>
            <a:r>
              <a:rPr lang="en-US" dirty="0" smtClean="0"/>
              <a:t> Corporation provides word processor software like MS-word, PowerPoint for the spelling correction</a:t>
            </a:r>
          </a:p>
          <a:p>
            <a:r>
              <a:rPr lang="en-US" b="1" dirty="0" smtClean="0"/>
              <a:t>Speech Recognition</a:t>
            </a:r>
            <a:endParaRPr lang="en-US" dirty="0" smtClean="0"/>
          </a:p>
          <a:p>
            <a:r>
              <a:rPr lang="en-US" b="1" dirty="0" err="1" smtClean="0"/>
              <a:t>Chatbot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Artificial Neural Network?</a:t>
            </a:r>
            <a:endParaRPr lang="en-US" b="1" dirty="0"/>
          </a:p>
        </p:txBody>
      </p:sp>
      <p:sp>
        <p:nvSpPr>
          <p:cNvPr id="3" name="Content Placeholder 2"/>
          <p:cNvSpPr>
            <a:spLocks noGrp="1"/>
          </p:cNvSpPr>
          <p:nvPr>
            <p:ph sz="quarter" idx="1"/>
          </p:nvPr>
        </p:nvSpPr>
        <p:spPr>
          <a:xfrm>
            <a:off x="228600" y="1219200"/>
            <a:ext cx="8458200" cy="4937760"/>
          </a:xfrm>
        </p:spPr>
        <p:txBody>
          <a:bodyPr>
            <a:normAutofit/>
          </a:bodyPr>
          <a:lstStyle/>
          <a:p>
            <a:pPr algn="just"/>
            <a:r>
              <a:rPr lang="en-US" sz="3200" dirty="0" smtClean="0"/>
              <a:t>The term "</a:t>
            </a:r>
            <a:r>
              <a:rPr lang="en-US" sz="3200" b="1" dirty="0" smtClean="0"/>
              <a:t>Artificial Neural Network</a:t>
            </a:r>
            <a:r>
              <a:rPr lang="en-US" sz="3200" dirty="0" smtClean="0"/>
              <a:t>" is derived from Biological neural networks that develop the structure of a human brain. Similar to the human brain that has neurons interconnected to one another, artificial neural networks also have neurons that are interconnected to one another in various layers of the networks. These neurons are known as nodes.</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 is Artificial Neural Network"/>
          <p:cNvPicPr/>
          <p:nvPr/>
        </p:nvPicPr>
        <p:blipFill>
          <a:blip r:embed="rId2"/>
          <a:srcRect/>
          <a:stretch>
            <a:fillRect/>
          </a:stretch>
        </p:blipFill>
        <p:spPr bwMode="auto">
          <a:xfrm>
            <a:off x="0" y="762000"/>
            <a:ext cx="4495800" cy="3181350"/>
          </a:xfrm>
          <a:prstGeom prst="rect">
            <a:avLst/>
          </a:prstGeom>
          <a:noFill/>
          <a:ln w="9525">
            <a:noFill/>
            <a:miter lim="800000"/>
            <a:headEnd/>
            <a:tailEnd/>
          </a:ln>
        </p:spPr>
      </p:pic>
      <p:graphicFrame>
        <p:nvGraphicFramePr>
          <p:cNvPr id="5" name="Table 4"/>
          <p:cNvGraphicFramePr>
            <a:graphicFrameLocks noGrp="1"/>
          </p:cNvGraphicFramePr>
          <p:nvPr/>
        </p:nvGraphicFramePr>
        <p:xfrm>
          <a:off x="990600" y="4572000"/>
          <a:ext cx="7010400" cy="1960880"/>
        </p:xfrm>
        <a:graphic>
          <a:graphicData uri="http://schemas.openxmlformats.org/drawingml/2006/table">
            <a:tbl>
              <a:tblPr/>
              <a:tblGrid>
                <a:gridCol w="3505200"/>
                <a:gridCol w="3505200"/>
              </a:tblGrid>
              <a:tr h="416350">
                <a:tc>
                  <a:txBody>
                    <a:bodyPr/>
                    <a:lstStyle/>
                    <a:p>
                      <a:pPr marL="0" marR="0">
                        <a:lnSpc>
                          <a:spcPct val="115000"/>
                        </a:lnSpc>
                        <a:spcBef>
                          <a:spcPts val="0"/>
                        </a:spcBef>
                        <a:spcAft>
                          <a:spcPts val="1000"/>
                        </a:spcAft>
                      </a:pPr>
                      <a:r>
                        <a:rPr lang="en-US" sz="1600" b="1" dirty="0">
                          <a:solidFill>
                            <a:srgbClr val="000000"/>
                          </a:solidFill>
                          <a:latin typeface="Calibri"/>
                          <a:ea typeface="Calibri"/>
                          <a:cs typeface="Times New Roman"/>
                        </a:rPr>
                        <a:t>Biological Neural Network</a:t>
                      </a:r>
                      <a:endParaRPr lang="en-US" sz="1600" dirty="0">
                        <a:latin typeface="Calibri"/>
                        <a:ea typeface="Calibri"/>
                        <a:cs typeface="Times New Roman"/>
                      </a:endParaRPr>
                    </a:p>
                  </a:txBody>
                  <a:tcPr marL="76200" marR="76200" marT="76200" marB="76200">
                    <a:lnL w="12700" cap="flat" cmpd="sng" algn="ctr">
                      <a:solidFill>
                        <a:srgbClr val="C7CCBE"/>
                      </a:solidFill>
                      <a:prstDash val="solid"/>
                      <a:round/>
                      <a:headEnd type="none" w="med" len="med"/>
                      <a:tailEnd type="none" w="med" len="med"/>
                    </a:lnL>
                    <a:lnR>
                      <a:noFill/>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C7CCBE"/>
                    </a:solidFill>
                  </a:tcPr>
                </a:tc>
                <a:tc>
                  <a:txBody>
                    <a:bodyPr/>
                    <a:lstStyle/>
                    <a:p>
                      <a:pPr marL="0" marR="0">
                        <a:lnSpc>
                          <a:spcPct val="115000"/>
                        </a:lnSpc>
                        <a:spcBef>
                          <a:spcPts val="0"/>
                        </a:spcBef>
                        <a:spcAft>
                          <a:spcPts val="1000"/>
                        </a:spcAft>
                      </a:pPr>
                      <a:r>
                        <a:rPr lang="en-US" sz="1600" b="1">
                          <a:solidFill>
                            <a:srgbClr val="000000"/>
                          </a:solidFill>
                          <a:latin typeface="Calibri"/>
                          <a:ea typeface="Calibri"/>
                          <a:cs typeface="Times New Roman"/>
                        </a:rPr>
                        <a:t>Artificial Neural Network</a:t>
                      </a:r>
                      <a:endParaRPr lang="en-US" sz="1600">
                        <a:latin typeface="Calibri"/>
                        <a:ea typeface="Calibri"/>
                        <a:cs typeface="Times New Roman"/>
                      </a:endParaRPr>
                    </a:p>
                  </a:txBody>
                  <a:tcPr marL="76200" marR="76200" marT="76200" marB="76200">
                    <a:lnL>
                      <a:noFill/>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C7CCBE"/>
                    </a:solidFill>
                  </a:tcPr>
                </a:tc>
              </a:tr>
              <a:tr h="334063">
                <a:tc>
                  <a:txBody>
                    <a:bodyPr/>
                    <a:lstStyle/>
                    <a:p>
                      <a:pPr marL="0" marR="0" algn="just">
                        <a:lnSpc>
                          <a:spcPct val="115000"/>
                        </a:lnSpc>
                        <a:spcBef>
                          <a:spcPts val="0"/>
                        </a:spcBef>
                        <a:spcAft>
                          <a:spcPts val="1000"/>
                        </a:spcAft>
                      </a:pPr>
                      <a:r>
                        <a:rPr lang="en-US" sz="1600" dirty="0">
                          <a:solidFill>
                            <a:srgbClr val="333333"/>
                          </a:solidFill>
                          <a:latin typeface="Segoe UI"/>
                          <a:ea typeface="Calibri"/>
                          <a:cs typeface="Times New Roman"/>
                        </a:rPr>
                        <a:t>Dendrites</a:t>
                      </a:r>
                      <a:endParaRPr lang="en-US" sz="1600" dirty="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1000"/>
                        </a:spcAft>
                      </a:pPr>
                      <a:r>
                        <a:rPr lang="en-US" sz="1600">
                          <a:solidFill>
                            <a:srgbClr val="333333"/>
                          </a:solidFill>
                          <a:latin typeface="Segoe UI"/>
                          <a:ea typeface="Calibri"/>
                          <a:cs typeface="Times New Roman"/>
                        </a:rPr>
                        <a:t>Inputs</a:t>
                      </a:r>
                      <a:endParaRPr lang="en-US" sz="160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r>
              <a:tr h="334063">
                <a:tc>
                  <a:txBody>
                    <a:bodyPr/>
                    <a:lstStyle/>
                    <a:p>
                      <a:pPr marL="0" marR="0" algn="just">
                        <a:lnSpc>
                          <a:spcPct val="115000"/>
                        </a:lnSpc>
                        <a:spcBef>
                          <a:spcPts val="0"/>
                        </a:spcBef>
                        <a:spcAft>
                          <a:spcPts val="1000"/>
                        </a:spcAft>
                      </a:pPr>
                      <a:r>
                        <a:rPr lang="en-US" sz="1600" dirty="0">
                          <a:solidFill>
                            <a:srgbClr val="333333"/>
                          </a:solidFill>
                          <a:latin typeface="Segoe UI"/>
                          <a:ea typeface="Calibri"/>
                          <a:cs typeface="Times New Roman"/>
                        </a:rPr>
                        <a:t>Cell nucleus</a:t>
                      </a:r>
                      <a:endParaRPr lang="en-US" sz="1600" dirty="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0" marR="0" algn="just">
                        <a:lnSpc>
                          <a:spcPct val="115000"/>
                        </a:lnSpc>
                        <a:spcBef>
                          <a:spcPts val="0"/>
                        </a:spcBef>
                        <a:spcAft>
                          <a:spcPts val="1000"/>
                        </a:spcAft>
                      </a:pPr>
                      <a:r>
                        <a:rPr lang="en-US" sz="1600">
                          <a:solidFill>
                            <a:srgbClr val="333333"/>
                          </a:solidFill>
                          <a:latin typeface="Segoe UI"/>
                          <a:ea typeface="Calibri"/>
                          <a:cs typeface="Times New Roman"/>
                        </a:rPr>
                        <a:t>Nodes</a:t>
                      </a:r>
                      <a:endParaRPr lang="en-US" sz="160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r>
              <a:tr h="334063">
                <a:tc>
                  <a:txBody>
                    <a:bodyPr/>
                    <a:lstStyle/>
                    <a:p>
                      <a:pPr marL="0" marR="0" algn="just">
                        <a:lnSpc>
                          <a:spcPct val="115000"/>
                        </a:lnSpc>
                        <a:spcBef>
                          <a:spcPts val="0"/>
                        </a:spcBef>
                        <a:spcAft>
                          <a:spcPts val="1000"/>
                        </a:spcAft>
                      </a:pPr>
                      <a:r>
                        <a:rPr lang="en-US" sz="1600" dirty="0">
                          <a:solidFill>
                            <a:srgbClr val="333333"/>
                          </a:solidFill>
                          <a:latin typeface="Segoe UI"/>
                          <a:ea typeface="Calibri"/>
                          <a:cs typeface="Times New Roman"/>
                        </a:rPr>
                        <a:t>Synapse</a:t>
                      </a:r>
                      <a:endParaRPr lang="en-US" sz="1600" dirty="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1000"/>
                        </a:spcAft>
                      </a:pPr>
                      <a:r>
                        <a:rPr lang="en-US" sz="1600">
                          <a:solidFill>
                            <a:srgbClr val="333333"/>
                          </a:solidFill>
                          <a:latin typeface="Segoe UI"/>
                          <a:ea typeface="Calibri"/>
                          <a:cs typeface="Times New Roman"/>
                        </a:rPr>
                        <a:t>Weights</a:t>
                      </a:r>
                      <a:endParaRPr lang="en-US" sz="160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FFFFFF"/>
                    </a:solidFill>
                  </a:tcPr>
                </a:tc>
              </a:tr>
              <a:tr h="334063">
                <a:tc>
                  <a:txBody>
                    <a:bodyPr/>
                    <a:lstStyle/>
                    <a:p>
                      <a:pPr marL="0" marR="0" algn="just">
                        <a:lnSpc>
                          <a:spcPct val="115000"/>
                        </a:lnSpc>
                        <a:spcBef>
                          <a:spcPts val="0"/>
                        </a:spcBef>
                        <a:spcAft>
                          <a:spcPts val="1000"/>
                        </a:spcAft>
                      </a:pPr>
                      <a:r>
                        <a:rPr lang="en-US" sz="1600" dirty="0">
                          <a:solidFill>
                            <a:srgbClr val="333333"/>
                          </a:solidFill>
                          <a:latin typeface="Segoe UI"/>
                          <a:ea typeface="Calibri"/>
                          <a:cs typeface="Times New Roman"/>
                        </a:rPr>
                        <a:t>Axon</a:t>
                      </a:r>
                      <a:endParaRPr lang="en-US" sz="1600" dirty="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c>
                  <a:txBody>
                    <a:bodyPr/>
                    <a:lstStyle/>
                    <a:p>
                      <a:pPr marL="0" marR="0" algn="just">
                        <a:lnSpc>
                          <a:spcPct val="115000"/>
                        </a:lnSpc>
                        <a:spcBef>
                          <a:spcPts val="0"/>
                        </a:spcBef>
                        <a:spcAft>
                          <a:spcPts val="1000"/>
                        </a:spcAft>
                      </a:pPr>
                      <a:r>
                        <a:rPr lang="en-US" sz="1600" dirty="0">
                          <a:solidFill>
                            <a:srgbClr val="333333"/>
                          </a:solidFill>
                          <a:latin typeface="Segoe UI"/>
                          <a:ea typeface="Calibri"/>
                          <a:cs typeface="Times New Roman"/>
                        </a:rPr>
                        <a:t>Output</a:t>
                      </a:r>
                      <a:endParaRPr lang="en-US" sz="1600" dirty="0">
                        <a:latin typeface="Calibri"/>
                        <a:ea typeface="Calibri"/>
                        <a:cs typeface="Times New Roman"/>
                      </a:endParaRPr>
                    </a:p>
                  </a:txBody>
                  <a:tcPr marL="50800" marR="50800" marT="50800" marB="50800">
                    <a:lnL w="12700" cap="flat" cmpd="sng" algn="ctr">
                      <a:solidFill>
                        <a:srgbClr val="C7CCBE"/>
                      </a:solidFill>
                      <a:prstDash val="solid"/>
                      <a:round/>
                      <a:headEnd type="none" w="med" len="med"/>
                      <a:tailEnd type="none" w="med" len="med"/>
                    </a:lnL>
                    <a:lnR w="12700" cap="flat" cmpd="sng" algn="ctr">
                      <a:solidFill>
                        <a:srgbClr val="C7CCBE"/>
                      </a:solidFill>
                      <a:prstDash val="solid"/>
                      <a:round/>
                      <a:headEnd type="none" w="med" len="med"/>
                      <a:tailEnd type="none" w="med" len="med"/>
                    </a:lnR>
                    <a:lnT w="12700" cap="flat" cmpd="sng" algn="ctr">
                      <a:solidFill>
                        <a:srgbClr val="C7CCBE"/>
                      </a:solidFill>
                      <a:prstDash val="solid"/>
                      <a:round/>
                      <a:headEnd type="none" w="med" len="med"/>
                      <a:tailEnd type="none" w="med" len="med"/>
                    </a:lnT>
                    <a:lnB w="12700" cap="flat" cmpd="sng" algn="ctr">
                      <a:solidFill>
                        <a:srgbClr val="C7CCBE"/>
                      </a:solidFill>
                      <a:prstDash val="solid"/>
                      <a:round/>
                      <a:headEnd type="none" w="med" len="med"/>
                      <a:tailEnd type="none" w="med" len="med"/>
                    </a:lnB>
                    <a:solidFill>
                      <a:srgbClr val="EFF1EB"/>
                    </a:solidFill>
                  </a:tcPr>
                </a:tc>
              </a:tr>
            </a:tbl>
          </a:graphicData>
        </a:graphic>
      </p:graphicFrame>
      <p:pic>
        <p:nvPicPr>
          <p:cNvPr id="6" name="Picture 5" descr="What is Artificial Neural Network"/>
          <p:cNvPicPr/>
          <p:nvPr/>
        </p:nvPicPr>
        <p:blipFill>
          <a:blip r:embed="rId3"/>
          <a:srcRect/>
          <a:stretch>
            <a:fillRect/>
          </a:stretch>
        </p:blipFill>
        <p:spPr bwMode="auto">
          <a:xfrm>
            <a:off x="4800600" y="685800"/>
            <a:ext cx="4114800" cy="2705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533400"/>
          </a:xfrm>
        </p:spPr>
        <p:txBody>
          <a:bodyPr>
            <a:normAutofit fontScale="90000"/>
          </a:bodyPr>
          <a:lstStyle/>
          <a:p>
            <a:r>
              <a:rPr lang="en-US" b="1" dirty="0" smtClean="0"/>
              <a:t>.</a:t>
            </a:r>
            <a:r>
              <a:rPr lang="en-US" dirty="0" smtClean="0"/>
              <a:t/>
            </a:r>
            <a:br>
              <a:rPr lang="en-US" dirty="0" smtClean="0"/>
            </a:br>
            <a:r>
              <a:rPr lang="en-US" b="1" dirty="0" smtClean="0"/>
              <a:t> The typical Artificial Neural Network </a:t>
            </a:r>
            <a:endParaRPr lang="en-US" dirty="0"/>
          </a:p>
        </p:txBody>
      </p:sp>
      <p:pic>
        <p:nvPicPr>
          <p:cNvPr id="4" name="Picture 3" descr="What is Artificial Neural Network"/>
          <p:cNvPicPr/>
          <p:nvPr/>
        </p:nvPicPr>
        <p:blipFill>
          <a:blip r:embed="rId2"/>
          <a:srcRect/>
          <a:stretch>
            <a:fillRect/>
          </a:stretch>
        </p:blipFill>
        <p:spPr bwMode="auto">
          <a:xfrm>
            <a:off x="685800" y="1600200"/>
            <a:ext cx="8153400"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architecture of an artificial neural network:</a:t>
            </a:r>
            <a:r>
              <a:rPr lang="en-US" b="1" dirty="0" smtClean="0"/>
              <a:t/>
            </a:r>
            <a:br>
              <a:rPr lang="en-US" b="1" dirty="0" smtClean="0"/>
            </a:br>
            <a:endParaRPr lang="en-US" dirty="0"/>
          </a:p>
        </p:txBody>
      </p:sp>
      <p:pic>
        <p:nvPicPr>
          <p:cNvPr id="4" name="Picture 3" descr="What is Artificial Neural Network"/>
          <p:cNvPicPr/>
          <p:nvPr/>
        </p:nvPicPr>
        <p:blipFill>
          <a:blip r:embed="rId2"/>
          <a:srcRect/>
          <a:stretch>
            <a:fillRect/>
          </a:stretch>
        </p:blipFill>
        <p:spPr bwMode="auto">
          <a:xfrm>
            <a:off x="457200" y="1447800"/>
            <a:ext cx="81534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ightbox"/>
          <p:cNvPicPr/>
          <p:nvPr/>
        </p:nvPicPr>
        <p:blipFill>
          <a:blip r:embed="rId2"/>
          <a:srcRect/>
          <a:stretch>
            <a:fillRect/>
          </a:stretch>
        </p:blipFill>
        <p:spPr bwMode="auto">
          <a:xfrm>
            <a:off x="609600" y="914400"/>
            <a:ext cx="79248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Artificial Neural Network primarily consists of three layers:</a:t>
            </a:r>
            <a:endParaRPr lang="en-US" dirty="0"/>
          </a:p>
        </p:txBody>
      </p:sp>
      <p:sp>
        <p:nvSpPr>
          <p:cNvPr id="3" name="Content Placeholder 2"/>
          <p:cNvSpPr>
            <a:spLocks noGrp="1"/>
          </p:cNvSpPr>
          <p:nvPr>
            <p:ph sz="quarter" idx="1"/>
          </p:nvPr>
        </p:nvSpPr>
        <p:spPr/>
        <p:txBody>
          <a:bodyPr>
            <a:normAutofit lnSpcReduction="10000"/>
          </a:bodyPr>
          <a:lstStyle/>
          <a:p>
            <a:pPr algn="just"/>
            <a:r>
              <a:rPr lang="en-US" b="1" dirty="0" smtClean="0"/>
              <a:t>Input </a:t>
            </a:r>
            <a:r>
              <a:rPr lang="en-US" b="1" dirty="0" err="1" smtClean="0"/>
              <a:t>Layer:</a:t>
            </a:r>
            <a:r>
              <a:rPr lang="en-US" dirty="0" err="1" smtClean="0"/>
              <a:t>As</a:t>
            </a:r>
            <a:r>
              <a:rPr lang="en-US" dirty="0" smtClean="0"/>
              <a:t> the name suggests, it accepts inputs in several different formats provided by the programmer.</a:t>
            </a:r>
          </a:p>
          <a:p>
            <a:pPr algn="just"/>
            <a:r>
              <a:rPr lang="en-US" b="1" dirty="0" smtClean="0"/>
              <a:t>Hidden </a:t>
            </a:r>
            <a:r>
              <a:rPr lang="en-US" b="1" dirty="0" err="1" smtClean="0"/>
              <a:t>Layer:</a:t>
            </a:r>
            <a:r>
              <a:rPr lang="en-US" dirty="0" err="1" smtClean="0"/>
              <a:t>The</a:t>
            </a:r>
            <a:r>
              <a:rPr lang="en-US" dirty="0" smtClean="0"/>
              <a:t> hidden layer presents in-between input and output layers. It performs all the calculations to find hidden features and patterns.</a:t>
            </a:r>
          </a:p>
          <a:p>
            <a:pPr algn="just"/>
            <a:r>
              <a:rPr lang="en-US" b="1" dirty="0" smtClean="0"/>
              <a:t>Output </a:t>
            </a:r>
            <a:r>
              <a:rPr lang="en-US" b="1" dirty="0" err="1" smtClean="0"/>
              <a:t>Layer:</a:t>
            </a:r>
            <a:r>
              <a:rPr lang="en-US" dirty="0" err="1" smtClean="0"/>
              <a:t>The</a:t>
            </a:r>
            <a:r>
              <a:rPr lang="en-US" dirty="0" smtClean="0"/>
              <a:t> input goes through a series of transformations using the hidden layer, which finally results in output that is conveyed using this layer.</a:t>
            </a:r>
          </a:p>
          <a:p>
            <a:pPr algn="just"/>
            <a:r>
              <a:rPr lang="en-US" dirty="0" smtClean="0"/>
              <a:t>The artificial neural network takes input and computes the weighted sum of the inputs and includes a bias. This computation is represented in the form of a transfer function</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are the types of Artificial Neural Networks?</a:t>
            </a:r>
            <a:endParaRPr lang="en-US" dirty="0"/>
          </a:p>
        </p:txBody>
      </p:sp>
      <p:sp>
        <p:nvSpPr>
          <p:cNvPr id="3" name="Content Placeholder 2"/>
          <p:cNvSpPr>
            <a:spLocks noGrp="1"/>
          </p:cNvSpPr>
          <p:nvPr>
            <p:ph sz="quarter" idx="1"/>
          </p:nvPr>
        </p:nvSpPr>
        <p:spPr/>
        <p:txBody>
          <a:bodyPr>
            <a:normAutofit fontScale="92500" lnSpcReduction="20000"/>
          </a:bodyPr>
          <a:lstStyle/>
          <a:p>
            <a:pPr lvl="0" algn="just" fontAlgn="base"/>
            <a:r>
              <a:rPr lang="en-US" b="1" dirty="0" err="1" smtClean="0">
                <a:hlinkClick r:id="rId2"/>
              </a:rPr>
              <a:t>Feedforward</a:t>
            </a:r>
            <a:r>
              <a:rPr lang="en-US" b="1" dirty="0" smtClean="0">
                <a:hlinkClick r:id="rId2"/>
              </a:rPr>
              <a:t> Neural Network</a:t>
            </a:r>
            <a:r>
              <a:rPr lang="en-US" b="1" dirty="0" smtClean="0"/>
              <a:t>: </a:t>
            </a:r>
            <a:r>
              <a:rPr lang="en-US" dirty="0" smtClean="0"/>
              <a:t>The </a:t>
            </a:r>
            <a:r>
              <a:rPr lang="en-US" dirty="0" err="1" smtClean="0"/>
              <a:t>feedforward</a:t>
            </a:r>
            <a:r>
              <a:rPr lang="en-US" dirty="0" smtClean="0"/>
              <a:t> neural network is one of the most basic artificial neural networks. In this ANN, the data or the input provided travels in a single direction. It enters into the ANN through the input layer and exits through the output layer So the </a:t>
            </a:r>
            <a:r>
              <a:rPr lang="en-US" dirty="0" err="1" smtClean="0"/>
              <a:t>feedforward</a:t>
            </a:r>
            <a:r>
              <a:rPr lang="en-US" dirty="0" smtClean="0"/>
              <a:t> neural network has a front-propagated wave only and usually does not have </a:t>
            </a:r>
            <a:r>
              <a:rPr lang="en-US" dirty="0" err="1" smtClean="0"/>
              <a:t>backpropagation</a:t>
            </a:r>
            <a:r>
              <a:rPr lang="en-US" dirty="0" smtClean="0"/>
              <a:t>. </a:t>
            </a:r>
          </a:p>
          <a:p>
            <a:pPr lvl="0" algn="just" fontAlgn="base"/>
            <a:r>
              <a:rPr lang="en-US" b="1" dirty="0" err="1" smtClean="0">
                <a:hlinkClick r:id="rId3"/>
              </a:rPr>
              <a:t>Convolutional</a:t>
            </a:r>
            <a:r>
              <a:rPr lang="en-US" b="1" dirty="0" smtClean="0">
                <a:hlinkClick r:id="rId3"/>
              </a:rPr>
              <a:t> Neural Network</a:t>
            </a:r>
            <a:r>
              <a:rPr lang="en-US" b="1" dirty="0" smtClean="0"/>
              <a:t>: </a:t>
            </a:r>
            <a:r>
              <a:rPr lang="en-US" dirty="0" smtClean="0"/>
              <a:t>A </a:t>
            </a:r>
            <a:r>
              <a:rPr lang="en-US" dirty="0" err="1" smtClean="0"/>
              <a:t>Convolutional</a:t>
            </a:r>
            <a:r>
              <a:rPr lang="en-US" dirty="0" smtClean="0"/>
              <a:t> neural network has some similarities to the feed-forward neural network, where the connections between units have weights that determine the influence of one unit on another unit. </a:t>
            </a:r>
          </a:p>
          <a:p>
            <a:pPr lvl="0" algn="just" fontAlgn="base"/>
            <a:r>
              <a:rPr lang="en-US" dirty="0" smtClean="0"/>
              <a:t>But a CNN has one or more than one </a:t>
            </a:r>
            <a:r>
              <a:rPr lang="en-US" dirty="0" err="1" smtClean="0"/>
              <a:t>convolutional</a:t>
            </a:r>
            <a:r>
              <a:rPr lang="en-US" dirty="0" smtClean="0"/>
              <a:t> layer that uses a convolution operation on the input and then passes the result obtained in the form of output to the next layer. </a:t>
            </a:r>
            <a:r>
              <a:rPr lang="en-US" b="1" dirty="0" smtClean="0"/>
              <a:t>CNN has applications in speech and image processing which is particularly useful in computer vision. </a:t>
            </a:r>
          </a:p>
          <a:p>
            <a:pPr algn="just"/>
            <a:endParaRPr lang="en-US"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are the types of Artificial Neural Networks?</a:t>
            </a:r>
            <a:endParaRPr lang="en-US" dirty="0"/>
          </a:p>
        </p:txBody>
      </p:sp>
      <p:sp>
        <p:nvSpPr>
          <p:cNvPr id="3" name="Content Placeholder 2"/>
          <p:cNvSpPr>
            <a:spLocks noGrp="1"/>
          </p:cNvSpPr>
          <p:nvPr>
            <p:ph sz="quarter" idx="1"/>
          </p:nvPr>
        </p:nvSpPr>
        <p:spPr/>
        <p:txBody>
          <a:bodyPr>
            <a:noAutofit/>
          </a:bodyPr>
          <a:lstStyle/>
          <a:p>
            <a:pPr lvl="0" algn="just" fontAlgn="base"/>
            <a:r>
              <a:rPr lang="en-US" sz="2000" b="1" dirty="0" smtClean="0"/>
              <a:t>Modular Neural Network: </a:t>
            </a:r>
            <a:r>
              <a:rPr lang="en-US" sz="2000" dirty="0" smtClean="0"/>
              <a:t>A Modular Neural Network contains a collection of different neural networks that work independently towards obtaining the output with no interaction between them. Each of the different neural networks performs a different sub-task by obtaining unique inputs compared to other networks. The advantage of this modular neural network is that it breaks down a large and complex computational process into smaller components, thus decreasing its complexity while still obtaining the required output. </a:t>
            </a:r>
          </a:p>
          <a:p>
            <a:pPr lvl="0" algn="just" fontAlgn="base"/>
            <a:r>
              <a:rPr lang="en-US" sz="2000" b="1" dirty="0" smtClean="0"/>
              <a:t>Radial basis function Neural Network: </a:t>
            </a:r>
            <a:r>
              <a:rPr lang="en-US" sz="2000" dirty="0" smtClean="0"/>
              <a:t>Radial basis functions are those functions that consider the distance of a point concerning the center. </a:t>
            </a:r>
          </a:p>
          <a:p>
            <a:pPr lvl="0" algn="just" fontAlgn="base"/>
            <a:r>
              <a:rPr lang="en-US" sz="2000" b="1" dirty="0" smtClean="0">
                <a:hlinkClick r:id="rId2"/>
              </a:rPr>
              <a:t>Recurrent Neural Network:</a:t>
            </a:r>
            <a:r>
              <a:rPr lang="en-US" sz="2000" b="1" dirty="0" smtClean="0"/>
              <a:t> </a:t>
            </a:r>
            <a:r>
              <a:rPr lang="en-US" sz="2000" dirty="0" smtClean="0"/>
              <a:t>The Recurrent Neural Network saves the output of a layer and feeds this output back to the input to better predict the outcome of the layer.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Training Deep Networks</a:t>
            </a:r>
            <a:endParaRPr lang="en-US" b="1" dirty="0"/>
          </a:p>
        </p:txBody>
      </p:sp>
      <p:sp>
        <p:nvSpPr>
          <p:cNvPr id="3" name="Content Placeholder 2"/>
          <p:cNvSpPr>
            <a:spLocks noGrp="1"/>
          </p:cNvSpPr>
          <p:nvPr>
            <p:ph sz="quarter" idx="1"/>
          </p:nvPr>
        </p:nvSpPr>
        <p:spPr/>
        <p:txBody>
          <a:bodyPr>
            <a:normAutofit/>
          </a:bodyPr>
          <a:lstStyle/>
          <a:p>
            <a:pPr algn="just"/>
            <a:r>
              <a:rPr lang="en-US" dirty="0" smtClean="0"/>
              <a:t>A deep neural network (DNN) is an ANN with multiple hidden layers between the input and output layers. </a:t>
            </a:r>
          </a:p>
          <a:p>
            <a:pPr algn="just"/>
            <a:endParaRPr lang="en-US" dirty="0" smtClean="0"/>
          </a:p>
          <a:p>
            <a:pPr algn="just"/>
            <a:r>
              <a:rPr lang="en-US" dirty="0" smtClean="0"/>
              <a:t>There can be multiple hidden layers which depend on what kind of data you are dealing with. The number of hidden layers is known as the depth of the neural network. </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fontScale="85000" lnSpcReduction="20000"/>
          </a:bodyPr>
          <a:lstStyle/>
          <a:p>
            <a:pPr lvl="0"/>
            <a:r>
              <a:rPr lang="en-US" sz="2800" b="1" dirty="0" smtClean="0"/>
              <a:t>Data Collection and Preparation</a:t>
            </a:r>
            <a:r>
              <a:rPr lang="en-US" sz="2800" dirty="0" smtClean="0"/>
              <a:t>:</a:t>
            </a:r>
            <a:endParaRPr lang="en-US" sz="2400" dirty="0" smtClean="0"/>
          </a:p>
          <a:p>
            <a:pPr lvl="1"/>
            <a:r>
              <a:rPr lang="en-US" sz="2400" dirty="0" smtClean="0"/>
              <a:t>Gather a dataset that is representative of the problem you want to solve. This data should be divided into training, validation, and test sets.</a:t>
            </a:r>
            <a:endParaRPr lang="en-US" sz="2000" dirty="0" smtClean="0"/>
          </a:p>
          <a:p>
            <a:pPr lvl="1"/>
            <a:r>
              <a:rPr lang="en-US" sz="2400" dirty="0" smtClean="0"/>
              <a:t>Preprocess the data by normalizing, scaling, and augmenting it as needed. Data preprocessing helps ensure that the network can learn effectively.</a:t>
            </a:r>
            <a:endParaRPr lang="en-US" sz="2000" dirty="0" smtClean="0"/>
          </a:p>
          <a:p>
            <a:pPr lvl="0"/>
            <a:r>
              <a:rPr lang="en-US" sz="2800" b="1" dirty="0" smtClean="0"/>
              <a:t>Model Architecture</a:t>
            </a:r>
            <a:r>
              <a:rPr lang="en-US" sz="2800" dirty="0" smtClean="0"/>
              <a:t>:</a:t>
            </a:r>
            <a:endParaRPr lang="en-US" sz="2400" dirty="0" smtClean="0"/>
          </a:p>
          <a:p>
            <a:pPr lvl="1"/>
            <a:r>
              <a:rPr lang="en-US" sz="2400" dirty="0" smtClean="0"/>
              <a:t>Choose an appropriate neural network architecture for your problem. This may involve selecting the type of layers (e.g., </a:t>
            </a:r>
            <a:r>
              <a:rPr lang="en-US" sz="2400" dirty="0" err="1" smtClean="0"/>
              <a:t>convolutional</a:t>
            </a:r>
            <a:r>
              <a:rPr lang="en-US" sz="2400" dirty="0" smtClean="0"/>
              <a:t>, recurrent, fully connected) and arranging them in a meaningful way.</a:t>
            </a:r>
            <a:endParaRPr lang="en-US" sz="2000" dirty="0" smtClean="0"/>
          </a:p>
          <a:p>
            <a:pPr lvl="1"/>
            <a:r>
              <a:rPr lang="en-US" sz="2400" dirty="0" smtClean="0"/>
              <a:t>Determine the number of neurons or units in each layer, the activation functions to use, and any other architectural details.</a:t>
            </a:r>
            <a:endParaRPr lang="en-US" sz="2000" dirty="0" smtClean="0"/>
          </a:p>
          <a:p>
            <a:pPr lvl="0"/>
            <a:r>
              <a:rPr lang="en-US" sz="2800" b="1" dirty="0" smtClean="0"/>
              <a:t>Loss Function</a:t>
            </a:r>
            <a:r>
              <a:rPr lang="en-US" sz="2800" dirty="0" smtClean="0"/>
              <a:t>:</a:t>
            </a:r>
            <a:endParaRPr lang="en-US" sz="2400" dirty="0" smtClean="0"/>
          </a:p>
          <a:p>
            <a:pPr lvl="1"/>
            <a:r>
              <a:rPr lang="en-US" sz="2400" dirty="0" smtClean="0"/>
              <a:t>Select an appropriate loss function (also known as a cost or objective function) that quantifies the difference between the model's predictions and the actual target values. </a:t>
            </a:r>
            <a:endParaRPr lang="en-US" sz="2000" dirty="0" smtClean="0"/>
          </a:p>
          <a:p>
            <a:pPr lvl="0"/>
            <a:r>
              <a:rPr lang="en-US" sz="2800" b="1" dirty="0" smtClean="0"/>
              <a:t>Optimizer</a:t>
            </a:r>
            <a:r>
              <a:rPr lang="en-US" sz="2800" dirty="0" smtClean="0"/>
              <a:t>:</a:t>
            </a:r>
            <a:endParaRPr lang="en-US" sz="2400" dirty="0" smtClean="0"/>
          </a:p>
          <a:p>
            <a:pPr lvl="1"/>
            <a:r>
              <a:rPr lang="en-US" sz="2400" dirty="0" smtClean="0"/>
              <a:t>Choose an optimization algorithm (optimizer) that will adjust the model's weights and biases to minimize the loss function. Common optimizers include stochastic gradient descent (SGD), Adam, </a:t>
            </a:r>
            <a:r>
              <a:rPr lang="en-US" sz="2400" dirty="0" err="1" smtClean="0"/>
              <a:t>RMSprop</a:t>
            </a:r>
            <a:r>
              <a:rPr lang="en-US" sz="2400" dirty="0" smtClean="0"/>
              <a:t>, and others.</a:t>
            </a:r>
            <a:endParaRPr lang="en-US" sz="20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400800"/>
          </a:xfrm>
        </p:spPr>
        <p:txBody>
          <a:bodyPr>
            <a:normAutofit fontScale="85000" lnSpcReduction="10000"/>
          </a:bodyPr>
          <a:lstStyle/>
          <a:p>
            <a:pPr lvl="0"/>
            <a:r>
              <a:rPr lang="en-US" sz="2800" b="1" dirty="0" smtClean="0"/>
              <a:t>Training Loop</a:t>
            </a:r>
            <a:r>
              <a:rPr lang="en-US" sz="2800" dirty="0" smtClean="0"/>
              <a:t>:</a:t>
            </a:r>
            <a:endParaRPr lang="en-US" sz="2400" dirty="0" smtClean="0"/>
          </a:p>
          <a:p>
            <a:pPr lvl="1"/>
            <a:r>
              <a:rPr lang="en-US" sz="2400" dirty="0" smtClean="0"/>
              <a:t>Iterate through the training dataset in batches. For each batch:</a:t>
            </a:r>
            <a:endParaRPr lang="en-US" sz="2000" dirty="0" smtClean="0"/>
          </a:p>
          <a:p>
            <a:pPr lvl="2"/>
            <a:r>
              <a:rPr lang="en-US" dirty="0" smtClean="0"/>
              <a:t>Forward pass: Compute predictions for the input data.</a:t>
            </a:r>
            <a:endParaRPr lang="en-US" sz="1800" dirty="0" smtClean="0"/>
          </a:p>
          <a:p>
            <a:pPr lvl="2"/>
            <a:r>
              <a:rPr lang="en-US" dirty="0" smtClean="0"/>
              <a:t>Compute the loss using the chosen loss function and the true labels.</a:t>
            </a:r>
            <a:endParaRPr lang="en-US" sz="1800" dirty="0" smtClean="0"/>
          </a:p>
          <a:p>
            <a:pPr lvl="2"/>
            <a:r>
              <a:rPr lang="en-US" dirty="0" smtClean="0"/>
              <a:t>Backward pass (</a:t>
            </a:r>
            <a:r>
              <a:rPr lang="en-US" dirty="0" err="1" smtClean="0"/>
              <a:t>backpropagation</a:t>
            </a:r>
            <a:r>
              <a:rPr lang="en-US" dirty="0" smtClean="0"/>
              <a:t>): Compute gradients of the loss with respect to the model's parameters.</a:t>
            </a:r>
            <a:endParaRPr lang="en-US" sz="1800" dirty="0" smtClean="0"/>
          </a:p>
          <a:p>
            <a:pPr lvl="2"/>
            <a:r>
              <a:rPr lang="en-US" dirty="0" smtClean="0"/>
              <a:t>Update the model's parameters using the optimizer.</a:t>
            </a:r>
            <a:endParaRPr lang="en-US" sz="1800" dirty="0" smtClean="0"/>
          </a:p>
          <a:p>
            <a:pPr lvl="0"/>
            <a:r>
              <a:rPr lang="en-US" sz="2800" b="1" dirty="0" smtClean="0"/>
              <a:t>Validation</a:t>
            </a:r>
            <a:r>
              <a:rPr lang="en-US" sz="2800" dirty="0" smtClean="0"/>
              <a:t>:</a:t>
            </a:r>
            <a:endParaRPr lang="en-US" sz="2400" dirty="0" smtClean="0"/>
          </a:p>
          <a:p>
            <a:pPr lvl="1"/>
            <a:r>
              <a:rPr lang="en-US" sz="2400" dirty="0" smtClean="0"/>
              <a:t>Periodically evaluate the model's performance on a separate validation dataset. This helps monitor the model's progress and detect </a:t>
            </a:r>
            <a:r>
              <a:rPr lang="en-US" sz="2400" dirty="0" err="1" smtClean="0"/>
              <a:t>overfitting</a:t>
            </a:r>
            <a:endParaRPr lang="en-US" sz="2000" dirty="0" smtClean="0"/>
          </a:p>
          <a:p>
            <a:pPr lvl="1"/>
            <a:r>
              <a:rPr lang="en-US" sz="2400" dirty="0" smtClean="0"/>
              <a:t>Adjust </a:t>
            </a:r>
            <a:r>
              <a:rPr lang="en-US" sz="2400" dirty="0" err="1" smtClean="0"/>
              <a:t>hyperparameters</a:t>
            </a:r>
            <a:r>
              <a:rPr lang="en-US" sz="2400" dirty="0" smtClean="0"/>
              <a:t> or stop training if the validation performance does not improve or starts to degrade.</a:t>
            </a:r>
            <a:endParaRPr lang="en-US" sz="2000" dirty="0" smtClean="0"/>
          </a:p>
          <a:p>
            <a:pPr lvl="0"/>
            <a:r>
              <a:rPr lang="en-US" sz="2800" b="1" dirty="0" err="1" smtClean="0"/>
              <a:t>Hyperparameter</a:t>
            </a:r>
            <a:r>
              <a:rPr lang="en-US" sz="2800" b="1" dirty="0" smtClean="0"/>
              <a:t> Tuning</a:t>
            </a:r>
            <a:r>
              <a:rPr lang="en-US" sz="2800" dirty="0" smtClean="0"/>
              <a:t>:</a:t>
            </a:r>
            <a:endParaRPr lang="en-US" sz="2400" dirty="0" smtClean="0"/>
          </a:p>
          <a:p>
            <a:pPr lvl="1"/>
            <a:r>
              <a:rPr lang="en-US" sz="2400" dirty="0" smtClean="0"/>
              <a:t>Experiment with different </a:t>
            </a:r>
            <a:r>
              <a:rPr lang="en-US" sz="2400" dirty="0" err="1" smtClean="0"/>
              <a:t>hyperparameters</a:t>
            </a:r>
            <a:r>
              <a:rPr lang="en-US" sz="2400" dirty="0" smtClean="0"/>
              <a:t>, including learning rates, batch sizes, network architectures, and regularization techniques (e.g., dropout, L2 regularization) to find the best combination for your problem.</a:t>
            </a:r>
            <a:endParaRPr lang="en-US" sz="2000" dirty="0" smtClean="0"/>
          </a:p>
          <a:p>
            <a:pPr lvl="0"/>
            <a:r>
              <a:rPr lang="en-US" sz="2800" b="1" dirty="0" smtClean="0"/>
              <a:t>Regularization</a:t>
            </a:r>
            <a:r>
              <a:rPr lang="en-US" sz="2800" dirty="0" smtClean="0"/>
              <a:t>:</a:t>
            </a:r>
            <a:endParaRPr lang="en-US" sz="2400" dirty="0" smtClean="0"/>
          </a:p>
          <a:p>
            <a:pPr lvl="1"/>
            <a:r>
              <a:rPr lang="en-US" sz="2400" dirty="0" smtClean="0"/>
              <a:t>Apply regularization techniques to prevent </a:t>
            </a:r>
            <a:r>
              <a:rPr lang="en-US" sz="2400" dirty="0" err="1" smtClean="0"/>
              <a:t>overfitting</a:t>
            </a:r>
            <a:r>
              <a:rPr lang="en-US" sz="2400" dirty="0" smtClean="0"/>
              <a:t>. These techniques include dropout, weight decay (L2 regularization), and early stopping.</a:t>
            </a:r>
            <a:endParaRPr lang="en-US" sz="20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96000"/>
          </a:xfrm>
        </p:spPr>
        <p:txBody>
          <a:bodyPr>
            <a:normAutofit lnSpcReduction="10000"/>
          </a:bodyPr>
          <a:lstStyle/>
          <a:p>
            <a:pPr lvl="0"/>
            <a:r>
              <a:rPr lang="en-US" sz="2800" b="1" dirty="0" smtClean="0"/>
              <a:t>Data Augmentation</a:t>
            </a:r>
            <a:r>
              <a:rPr lang="en-US" sz="2800" dirty="0" smtClean="0"/>
              <a:t>:</a:t>
            </a:r>
            <a:endParaRPr lang="en-US" sz="2400" dirty="0" smtClean="0"/>
          </a:p>
          <a:p>
            <a:pPr lvl="1"/>
            <a:r>
              <a:rPr lang="en-US" sz="2400" dirty="0" smtClean="0"/>
              <a:t>Augment the training data by applying random transformations (e.g., rotations, flips, crops) to increase the diversity of the training samples and improve generalization.</a:t>
            </a:r>
            <a:endParaRPr lang="en-US" sz="2000" dirty="0" smtClean="0"/>
          </a:p>
          <a:p>
            <a:pPr lvl="0"/>
            <a:r>
              <a:rPr lang="en-US" sz="2800" b="1" dirty="0" smtClean="0"/>
              <a:t>Monitoring and Logging</a:t>
            </a:r>
            <a:r>
              <a:rPr lang="en-US" sz="2800" dirty="0" smtClean="0"/>
              <a:t>:</a:t>
            </a:r>
            <a:endParaRPr lang="en-US" sz="2400" dirty="0" smtClean="0"/>
          </a:p>
          <a:p>
            <a:pPr lvl="1"/>
            <a:r>
              <a:rPr lang="en-US" sz="2400" dirty="0" smtClean="0"/>
              <a:t>Keep track of training progress by monitoring metrics like loss and accuracy.</a:t>
            </a:r>
            <a:endParaRPr lang="en-US" sz="2000" dirty="0" smtClean="0"/>
          </a:p>
          <a:p>
            <a:pPr lvl="0"/>
            <a:r>
              <a:rPr lang="en-US" sz="2800" b="1" dirty="0" smtClean="0"/>
              <a:t>Testing</a:t>
            </a:r>
            <a:r>
              <a:rPr lang="en-US" sz="2800" dirty="0" smtClean="0"/>
              <a:t>:</a:t>
            </a:r>
            <a:endParaRPr lang="en-US" sz="2400" dirty="0" smtClean="0"/>
          </a:p>
          <a:p>
            <a:pPr lvl="1"/>
            <a:r>
              <a:rPr lang="en-US" sz="2400" dirty="0" smtClean="0"/>
              <a:t>After training, evaluate the final model on a separate test dataset that it has never seen before to assess its generalization performance.</a:t>
            </a:r>
            <a:endParaRPr lang="en-US" sz="2000" dirty="0" smtClean="0"/>
          </a:p>
          <a:p>
            <a:pPr lvl="0"/>
            <a:r>
              <a:rPr lang="en-US" sz="2800" b="1" dirty="0" smtClean="0"/>
              <a:t>Deployment</a:t>
            </a:r>
            <a:r>
              <a:rPr lang="en-US" sz="2800" dirty="0" smtClean="0"/>
              <a:t>:</a:t>
            </a:r>
            <a:endParaRPr lang="en-US" sz="2400" dirty="0" smtClean="0"/>
          </a:p>
          <a:p>
            <a:pPr lvl="1"/>
            <a:r>
              <a:rPr lang="en-US" sz="2400" dirty="0" smtClean="0"/>
              <a:t>Once satisfied with the model's performance, deploy it for making predictions on new, unseen data in a production environment.</a:t>
            </a:r>
            <a:endParaRPr lang="en-US" sz="2000" dirty="0" smtClean="0"/>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ural networks and deep learning"/>
          <p:cNvPicPr>
            <a:picLocks noChangeAspect="1" noChangeArrowheads="1"/>
          </p:cNvPicPr>
          <p:nvPr/>
        </p:nvPicPr>
        <p:blipFill>
          <a:blip r:embed="rId2"/>
          <a:srcRect/>
          <a:stretch>
            <a:fillRect/>
          </a:stretch>
        </p:blipFill>
        <p:spPr bwMode="auto">
          <a:xfrm>
            <a:off x="533400" y="533400"/>
            <a:ext cx="8153400" cy="54102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a feed forward neural network?</a:t>
            </a:r>
            <a:endParaRPr lang="en-US" dirty="0"/>
          </a:p>
        </p:txBody>
      </p:sp>
      <p:sp>
        <p:nvSpPr>
          <p:cNvPr id="3" name="Content Placeholder 2"/>
          <p:cNvSpPr>
            <a:spLocks noGrp="1"/>
          </p:cNvSpPr>
          <p:nvPr>
            <p:ph sz="quarter" idx="1"/>
          </p:nvPr>
        </p:nvSpPr>
        <p:spPr>
          <a:xfrm>
            <a:off x="457200" y="1219200"/>
            <a:ext cx="8229600" cy="1828800"/>
          </a:xfrm>
        </p:spPr>
        <p:txBody>
          <a:bodyPr/>
          <a:lstStyle/>
          <a:p>
            <a:r>
              <a:rPr lang="en-US" b="1" dirty="0" smtClean="0"/>
              <a:t>What is a feed forward neural network?</a:t>
            </a:r>
          </a:p>
          <a:p>
            <a:r>
              <a:rPr lang="en-US" dirty="0" smtClean="0"/>
              <a:t>In the feed-forward neural network, there are not any feedback loops or connections in the network. Here is simply an input layer, a hidden layer, and an output layer.</a:t>
            </a:r>
          </a:p>
          <a:p>
            <a:endParaRPr lang="en-US" dirty="0"/>
          </a:p>
        </p:txBody>
      </p:sp>
      <p:pic>
        <p:nvPicPr>
          <p:cNvPr id="4" name="Picture 3" descr="Feed Forward Process in Deep Neural Network"/>
          <p:cNvPicPr/>
          <p:nvPr/>
        </p:nvPicPr>
        <p:blipFill>
          <a:blip r:embed="rId2"/>
          <a:srcRect/>
          <a:stretch>
            <a:fillRect/>
          </a:stretch>
        </p:blipFill>
        <p:spPr bwMode="auto">
          <a:xfrm>
            <a:off x="2743200" y="3352800"/>
            <a:ext cx="4010660" cy="31451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Backpropagation</a:t>
            </a:r>
            <a:r>
              <a:rPr lang="en-US" b="1" dirty="0" smtClean="0"/>
              <a:t> Process in Deep Neural Network</a:t>
            </a:r>
            <a:endParaRPr lang="en-US" dirty="0"/>
          </a:p>
        </p:txBody>
      </p:sp>
      <p:sp>
        <p:nvSpPr>
          <p:cNvPr id="3" name="Content Placeholder 2"/>
          <p:cNvSpPr>
            <a:spLocks noGrp="1"/>
          </p:cNvSpPr>
          <p:nvPr>
            <p:ph sz="quarter" idx="1"/>
          </p:nvPr>
        </p:nvSpPr>
        <p:spPr>
          <a:xfrm>
            <a:off x="457200" y="1219200"/>
            <a:ext cx="8229600" cy="5334000"/>
          </a:xfrm>
        </p:spPr>
        <p:txBody>
          <a:bodyPr>
            <a:normAutofit/>
          </a:bodyPr>
          <a:lstStyle/>
          <a:p>
            <a:pPr algn="just"/>
            <a:r>
              <a:rPr lang="en-US" b="1" dirty="0" err="1" smtClean="0"/>
              <a:t>Backpropagation</a:t>
            </a:r>
            <a:r>
              <a:rPr lang="en-US" dirty="0" smtClean="0"/>
              <a:t> is one of the important concepts of a neural network. Our task is to classify our data best. </a:t>
            </a:r>
          </a:p>
          <a:p>
            <a:pPr algn="just"/>
            <a:r>
              <a:rPr lang="en-US" dirty="0" smtClean="0"/>
              <a:t>For this, we have to update the weights of parameter and bias, but how can we do that in a deep neural network? </a:t>
            </a:r>
          </a:p>
          <a:p>
            <a:pPr algn="just"/>
            <a:r>
              <a:rPr lang="en-US" dirty="0" smtClean="0"/>
              <a:t>In the linear regression model, we use gradient descent to optimize the parameter. Similarly here we also use gradient descent algorithm using </a:t>
            </a:r>
            <a:r>
              <a:rPr lang="en-US" dirty="0" err="1" smtClean="0"/>
              <a:t>Backpropagation</a:t>
            </a:r>
            <a:r>
              <a:rPr lang="en-US" dirty="0" smtClean="0"/>
              <a:t>.</a:t>
            </a:r>
          </a:p>
          <a:p>
            <a:pPr algn="just"/>
            <a:r>
              <a:rPr lang="en-US" dirty="0" err="1" smtClean="0"/>
              <a:t>Backpropagation</a:t>
            </a:r>
            <a:r>
              <a:rPr lang="en-US" dirty="0" smtClean="0"/>
              <a:t> algorithms are a set of methods used to efficiently train artificial neural networks following a gradient descent approach which exploits the chain rule.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5775960"/>
          </a:xfrm>
        </p:spPr>
        <p:txBody>
          <a:bodyPr>
            <a:normAutofit/>
          </a:bodyPr>
          <a:lstStyle/>
          <a:p>
            <a:pPr algn="just"/>
            <a:r>
              <a:rPr lang="en-US" sz="2800" dirty="0" smtClean="0"/>
              <a:t>The main features of </a:t>
            </a:r>
            <a:r>
              <a:rPr lang="en-US" sz="2800" dirty="0" err="1" smtClean="0"/>
              <a:t>Backpropagation</a:t>
            </a:r>
            <a:r>
              <a:rPr lang="en-US" sz="2800" dirty="0" smtClean="0"/>
              <a:t> are the iterative, recursive and efficient method through which it calculates the updated weight to improve the network</a:t>
            </a:r>
          </a:p>
          <a:p>
            <a:pPr algn="just"/>
            <a:r>
              <a:rPr lang="en-US" sz="2800" dirty="0" smtClean="0"/>
              <a:t>Derivatives of the activation function to be known at network design time is required to </a:t>
            </a:r>
            <a:r>
              <a:rPr lang="en-US" sz="2800" dirty="0" err="1" smtClean="0"/>
              <a:t>Backpropagation</a:t>
            </a:r>
            <a:r>
              <a:rPr lang="en-US" sz="2800" dirty="0" smtClean="0"/>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Picture 3" descr="Backpropagation Process in Deep Neural Network"/>
          <p:cNvPicPr/>
          <p:nvPr/>
        </p:nvPicPr>
        <p:blipFill>
          <a:blip r:embed="rId2"/>
          <a:srcRect/>
          <a:stretch>
            <a:fillRect/>
          </a:stretch>
        </p:blipFill>
        <p:spPr bwMode="auto">
          <a:xfrm>
            <a:off x="609600" y="1219200"/>
            <a:ext cx="8001000" cy="480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10000"/>
          </a:bodyPr>
          <a:lstStyle/>
          <a:p>
            <a:r>
              <a:rPr lang="en-US" b="1" dirty="0" smtClean="0"/>
              <a:t>Input values</a:t>
            </a:r>
          </a:p>
          <a:p>
            <a:r>
              <a:rPr lang="en-US" dirty="0" smtClean="0"/>
              <a:t>X1=0.05</a:t>
            </a:r>
            <a:br>
              <a:rPr lang="en-US" dirty="0" smtClean="0"/>
            </a:br>
            <a:r>
              <a:rPr lang="en-US" dirty="0" smtClean="0"/>
              <a:t>X2=0.10</a:t>
            </a:r>
          </a:p>
          <a:p>
            <a:r>
              <a:rPr lang="en-US" b="1" dirty="0" smtClean="0"/>
              <a:t>Initial weight</a:t>
            </a:r>
          </a:p>
          <a:p>
            <a:r>
              <a:rPr lang="en-US" dirty="0" smtClean="0"/>
              <a:t>W1=0.15     w5=0.40</a:t>
            </a:r>
            <a:br>
              <a:rPr lang="en-US" dirty="0" smtClean="0"/>
            </a:br>
            <a:r>
              <a:rPr lang="en-US" dirty="0" smtClean="0"/>
              <a:t>W2=0.20     w6=0.45</a:t>
            </a:r>
            <a:br>
              <a:rPr lang="en-US" dirty="0" smtClean="0"/>
            </a:br>
            <a:r>
              <a:rPr lang="en-US" dirty="0" smtClean="0"/>
              <a:t>W3=0.25     w7=0.50</a:t>
            </a:r>
            <a:br>
              <a:rPr lang="en-US" dirty="0" smtClean="0"/>
            </a:br>
            <a:r>
              <a:rPr lang="en-US" dirty="0" smtClean="0"/>
              <a:t>W4=0.30     w8=0.55</a:t>
            </a:r>
          </a:p>
          <a:p>
            <a:r>
              <a:rPr lang="en-US" b="1" dirty="0" smtClean="0"/>
              <a:t>Bias Values</a:t>
            </a:r>
          </a:p>
          <a:p>
            <a:r>
              <a:rPr lang="en-US" dirty="0" smtClean="0"/>
              <a:t>b1=0.35     b2=0.60</a:t>
            </a:r>
          </a:p>
          <a:p>
            <a:r>
              <a:rPr lang="en-US" b="1" dirty="0" smtClean="0"/>
              <a:t>Target Values</a:t>
            </a:r>
          </a:p>
          <a:p>
            <a:r>
              <a:rPr lang="en-US" dirty="0" smtClean="0"/>
              <a:t>T1=0.01</a:t>
            </a:r>
            <a:br>
              <a:rPr lang="en-US" dirty="0" smtClean="0"/>
            </a:br>
            <a:r>
              <a:rPr lang="en-US" dirty="0" smtClean="0"/>
              <a:t>T2=0.99</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01040"/>
            <a:ext cx="8229600" cy="5471160"/>
          </a:xfrm>
        </p:spPr>
        <p:txBody>
          <a:bodyPr/>
          <a:lstStyle/>
          <a:p>
            <a:r>
              <a:rPr lang="en-US" dirty="0" smtClean="0"/>
              <a:t>Now, we first calculate the values of H1 and H2 by a forward pass.</a:t>
            </a:r>
          </a:p>
          <a:p>
            <a:r>
              <a:rPr lang="en-US" b="1" dirty="0" smtClean="0"/>
              <a:t>Forward Pass</a:t>
            </a:r>
          </a:p>
          <a:p>
            <a:r>
              <a:rPr lang="en-US" dirty="0" smtClean="0"/>
              <a:t>To find the value of H1 we first multiply the input value from the weights as</a:t>
            </a:r>
          </a:p>
          <a:p>
            <a:r>
              <a:rPr lang="en-US" dirty="0" smtClean="0"/>
              <a:t>                              H1=x1×w</a:t>
            </a:r>
            <a:r>
              <a:rPr lang="en-US" baseline="-25000" dirty="0" smtClean="0"/>
              <a:t>1</a:t>
            </a:r>
            <a:r>
              <a:rPr lang="en-US" dirty="0" smtClean="0"/>
              <a:t>+x2×w</a:t>
            </a:r>
            <a:r>
              <a:rPr lang="en-US" baseline="-25000" dirty="0" smtClean="0"/>
              <a:t>2</a:t>
            </a:r>
            <a:r>
              <a:rPr lang="en-US" dirty="0" smtClean="0"/>
              <a:t>+b1</a:t>
            </a:r>
            <a:br>
              <a:rPr lang="en-US" dirty="0" smtClean="0"/>
            </a:br>
            <a:r>
              <a:rPr lang="en-US" dirty="0" smtClean="0"/>
              <a:t>                        H1=0.05×0.15+0.10×0.20+0.35</a:t>
            </a:r>
            <a:br>
              <a:rPr lang="en-US" dirty="0" smtClean="0"/>
            </a:br>
            <a:r>
              <a:rPr lang="en-US" dirty="0" smtClean="0"/>
              <a:t>                                    </a:t>
            </a:r>
            <a:r>
              <a:rPr lang="en-US" b="1" dirty="0" smtClean="0"/>
              <a:t>H1=0.3775</a:t>
            </a:r>
            <a:endParaRPr lang="en-US" dirty="0" smtClean="0"/>
          </a:p>
          <a:p>
            <a:r>
              <a:rPr lang="en-US" dirty="0" smtClean="0"/>
              <a:t>To calculate the final result of H1, we performed the sigmoid function as</a:t>
            </a:r>
          </a:p>
          <a:p>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ackpropagation Process in Deep Neural Network"/>
          <p:cNvPicPr>
            <a:picLocks noGrp="1"/>
          </p:cNvPicPr>
          <p:nvPr>
            <p:ph sz="quarter" idx="1"/>
          </p:nvPr>
        </p:nvPicPr>
        <p:blipFill>
          <a:blip r:embed="rId2"/>
          <a:srcRect/>
          <a:stretch>
            <a:fillRect/>
          </a:stretch>
        </p:blipFill>
        <p:spPr bwMode="auto">
          <a:xfrm>
            <a:off x="304800" y="1219200"/>
            <a:ext cx="8305800" cy="510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229600" cy="3200400"/>
          </a:xfrm>
        </p:spPr>
        <p:txBody>
          <a:bodyPr/>
          <a:lstStyle/>
          <a:p>
            <a:r>
              <a:rPr lang="en-US" dirty="0" smtClean="0"/>
              <a:t>We will calculate the value of H2 in the same way as H1</a:t>
            </a:r>
          </a:p>
          <a:p>
            <a:r>
              <a:rPr lang="en-US" dirty="0" smtClean="0"/>
              <a:t>                              H2=x1×w</a:t>
            </a:r>
            <a:r>
              <a:rPr lang="en-US" baseline="-25000" dirty="0" smtClean="0"/>
              <a:t>3</a:t>
            </a:r>
            <a:r>
              <a:rPr lang="en-US" dirty="0" smtClean="0"/>
              <a:t>+x2×w</a:t>
            </a:r>
            <a:r>
              <a:rPr lang="en-US" baseline="-25000" dirty="0" smtClean="0"/>
              <a:t>4</a:t>
            </a:r>
            <a:r>
              <a:rPr lang="en-US" dirty="0" smtClean="0"/>
              <a:t>+b1</a:t>
            </a:r>
            <a:br>
              <a:rPr lang="en-US" dirty="0" smtClean="0"/>
            </a:br>
            <a:r>
              <a:rPr lang="en-US" dirty="0" smtClean="0"/>
              <a:t>                        H2=0.05×0.25+0.10×0.30+0.35</a:t>
            </a:r>
            <a:br>
              <a:rPr lang="en-US" dirty="0" smtClean="0"/>
            </a:br>
            <a:r>
              <a:rPr lang="en-US" dirty="0" smtClean="0"/>
              <a:t>                                    </a:t>
            </a:r>
            <a:r>
              <a:rPr lang="en-US" b="1" dirty="0" smtClean="0"/>
              <a:t>H2=0.3925</a:t>
            </a:r>
            <a:endParaRPr lang="en-US" dirty="0" smtClean="0"/>
          </a:p>
          <a:p>
            <a:r>
              <a:rPr lang="en-US" dirty="0" smtClean="0"/>
              <a:t>To calculate the final result of H1, we performed the sigmoid function as</a:t>
            </a:r>
          </a:p>
          <a:p>
            <a:endParaRPr lang="en-US" dirty="0"/>
          </a:p>
        </p:txBody>
      </p:sp>
      <p:pic>
        <p:nvPicPr>
          <p:cNvPr id="4" name="Picture 3" descr="Backpropagation Process in Deep Neural Network"/>
          <p:cNvPicPr/>
          <p:nvPr/>
        </p:nvPicPr>
        <p:blipFill>
          <a:blip r:embed="rId2"/>
          <a:srcRect/>
          <a:stretch>
            <a:fillRect/>
          </a:stretch>
        </p:blipFill>
        <p:spPr bwMode="auto">
          <a:xfrm>
            <a:off x="1905000" y="3581400"/>
            <a:ext cx="5257800"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229600" cy="4191000"/>
          </a:xfrm>
        </p:spPr>
        <p:txBody>
          <a:bodyPr/>
          <a:lstStyle/>
          <a:p>
            <a:r>
              <a:rPr lang="en-US" dirty="0" smtClean="0"/>
              <a:t>Now, we calculate the values of y1 and y2 in the same way as we calculate the H1 and H2.</a:t>
            </a:r>
          </a:p>
          <a:p>
            <a:r>
              <a:rPr lang="en-US" dirty="0" smtClean="0"/>
              <a:t>To find the value of y1, we first multiply the input value i.e., the outcome of H1 and H2 from the weights as</a:t>
            </a:r>
          </a:p>
          <a:p>
            <a:r>
              <a:rPr lang="en-US" dirty="0" smtClean="0"/>
              <a:t>                              y1=H1×w</a:t>
            </a:r>
            <a:r>
              <a:rPr lang="en-US" baseline="-25000" dirty="0" smtClean="0"/>
              <a:t>5</a:t>
            </a:r>
            <a:r>
              <a:rPr lang="en-US" dirty="0" smtClean="0"/>
              <a:t>+H2×w</a:t>
            </a:r>
            <a:r>
              <a:rPr lang="en-US" baseline="-25000" dirty="0" smtClean="0"/>
              <a:t>6</a:t>
            </a:r>
            <a:r>
              <a:rPr lang="en-US" dirty="0" smtClean="0"/>
              <a:t>+b2</a:t>
            </a:r>
            <a:br>
              <a:rPr lang="en-US" dirty="0" smtClean="0"/>
            </a:br>
            <a:r>
              <a:rPr lang="en-US" dirty="0" smtClean="0"/>
              <a:t>             y1=0.593269992×0.40+0.596884378×0.45+0.60</a:t>
            </a:r>
            <a:br>
              <a:rPr lang="en-US" dirty="0" smtClean="0"/>
            </a:br>
            <a:r>
              <a:rPr lang="en-US" dirty="0" smtClean="0"/>
              <a:t>                                    </a:t>
            </a:r>
            <a:r>
              <a:rPr lang="en-US" b="1" dirty="0" smtClean="0"/>
              <a:t>y1=1.10590597</a:t>
            </a:r>
            <a:endParaRPr lang="en-US" dirty="0" smtClean="0"/>
          </a:p>
          <a:p>
            <a:r>
              <a:rPr lang="en-US" dirty="0" smtClean="0"/>
              <a:t>To calculate the final result of y1 we performed the sigmoid function as</a:t>
            </a:r>
          </a:p>
          <a:p>
            <a:endParaRPr lang="en-US" dirty="0"/>
          </a:p>
        </p:txBody>
      </p:sp>
      <p:pic>
        <p:nvPicPr>
          <p:cNvPr id="4" name="Content Placeholder 3" descr="Backpropagation Process in Deep Neural Network"/>
          <p:cNvPicPr>
            <a:picLocks/>
          </p:cNvPicPr>
          <p:nvPr/>
        </p:nvPicPr>
        <p:blipFill>
          <a:blip r:embed="rId2"/>
          <a:srcRect/>
          <a:stretch>
            <a:fillRect/>
          </a:stretch>
        </p:blipFill>
        <p:spPr bwMode="auto">
          <a:xfrm>
            <a:off x="1905000" y="4724400"/>
            <a:ext cx="495300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229600" cy="2895600"/>
          </a:xfrm>
        </p:spPr>
        <p:txBody>
          <a:bodyPr/>
          <a:lstStyle/>
          <a:p>
            <a:r>
              <a:rPr lang="en-US" dirty="0" smtClean="0"/>
              <a:t>We will calculate the value of y2 in the same way as y1</a:t>
            </a:r>
          </a:p>
          <a:p>
            <a:r>
              <a:rPr lang="en-US" dirty="0" smtClean="0"/>
              <a:t>                              y2=H1×w</a:t>
            </a:r>
            <a:r>
              <a:rPr lang="en-US" baseline="-25000" dirty="0" smtClean="0"/>
              <a:t>7</a:t>
            </a:r>
            <a:r>
              <a:rPr lang="en-US" dirty="0" smtClean="0"/>
              <a:t>+H2×w</a:t>
            </a:r>
            <a:r>
              <a:rPr lang="en-US" baseline="-25000" dirty="0" smtClean="0"/>
              <a:t>8</a:t>
            </a:r>
            <a:r>
              <a:rPr lang="en-US" dirty="0" smtClean="0"/>
              <a:t>+b2</a:t>
            </a:r>
            <a:br>
              <a:rPr lang="en-US" dirty="0" smtClean="0"/>
            </a:br>
            <a:r>
              <a:rPr lang="en-US" dirty="0" smtClean="0"/>
              <a:t>             y2=0.593269992×0.50+0.596884378×0.55+0.60</a:t>
            </a:r>
            <a:br>
              <a:rPr lang="en-US" dirty="0" smtClean="0"/>
            </a:br>
            <a:r>
              <a:rPr lang="en-US" dirty="0" smtClean="0"/>
              <a:t>                                    </a:t>
            </a:r>
            <a:r>
              <a:rPr lang="en-US" b="1" dirty="0" smtClean="0"/>
              <a:t>y2=1.2249214</a:t>
            </a:r>
            <a:endParaRPr lang="en-US" dirty="0" smtClean="0"/>
          </a:p>
          <a:p>
            <a:r>
              <a:rPr lang="en-US" dirty="0" smtClean="0"/>
              <a:t>To calculate the final result of H1, we performed the sigmoid function as</a:t>
            </a:r>
          </a:p>
          <a:p>
            <a:endParaRPr lang="en-US" dirty="0"/>
          </a:p>
        </p:txBody>
      </p:sp>
      <p:pic>
        <p:nvPicPr>
          <p:cNvPr id="4" name="Content Placeholder 3" descr="Backpropagation Process in Deep Neural Network"/>
          <p:cNvPicPr>
            <a:picLocks/>
          </p:cNvPicPr>
          <p:nvPr/>
        </p:nvPicPr>
        <p:blipFill>
          <a:blip r:embed="rId2"/>
          <a:srcRect/>
          <a:stretch>
            <a:fillRect/>
          </a:stretch>
        </p:blipFill>
        <p:spPr bwMode="auto">
          <a:xfrm>
            <a:off x="1981200" y="3429000"/>
            <a:ext cx="4648200" cy="23052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smtClean="0"/>
              <a:t>Our target values are 0.01 and 0.99. Our y1 and y2 value is not matched with our target values T1 and T2.</a:t>
            </a:r>
          </a:p>
          <a:p>
            <a:r>
              <a:rPr lang="en-US" dirty="0" smtClean="0"/>
              <a:t>Now, we will find the </a:t>
            </a:r>
            <a:r>
              <a:rPr lang="en-US" b="1" dirty="0" smtClean="0"/>
              <a:t>total error</a:t>
            </a:r>
            <a:r>
              <a:rPr lang="en-US" dirty="0" smtClean="0"/>
              <a:t>, which is simply the difference between the outputs from the target outputs. The total error is calculated as</a:t>
            </a:r>
          </a:p>
          <a:p>
            <a:endParaRPr lang="en-US" dirty="0"/>
          </a:p>
        </p:txBody>
      </p:sp>
      <p:pic>
        <p:nvPicPr>
          <p:cNvPr id="4" name="Picture 3" descr="Backpropagation Process in Deep Neural Network"/>
          <p:cNvPicPr/>
          <p:nvPr/>
        </p:nvPicPr>
        <p:blipFill>
          <a:blip r:embed="rId2"/>
          <a:srcRect/>
          <a:stretch>
            <a:fillRect/>
          </a:stretch>
        </p:blipFill>
        <p:spPr bwMode="auto">
          <a:xfrm>
            <a:off x="1600200" y="3962400"/>
            <a:ext cx="54102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smtClean="0"/>
              <a:t>So, the total error is </a:t>
            </a:r>
          </a:p>
          <a:p>
            <a:endParaRPr lang="en-US" dirty="0"/>
          </a:p>
        </p:txBody>
      </p:sp>
      <p:pic>
        <p:nvPicPr>
          <p:cNvPr id="4" name="Picture 3" descr="Backpropagation Process in Deep Neural Network"/>
          <p:cNvPicPr/>
          <p:nvPr/>
        </p:nvPicPr>
        <p:blipFill>
          <a:blip r:embed="rId2"/>
          <a:srcRect/>
          <a:stretch>
            <a:fillRect/>
          </a:stretch>
        </p:blipFill>
        <p:spPr bwMode="auto">
          <a:xfrm>
            <a:off x="228600" y="2057400"/>
            <a:ext cx="74676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smtClean="0"/>
              <a:t>Now, we will </a:t>
            </a:r>
            <a:r>
              <a:rPr lang="en-US" dirty="0" err="1" smtClean="0"/>
              <a:t>backpropagate</a:t>
            </a:r>
            <a:r>
              <a:rPr lang="en-US" dirty="0" smtClean="0"/>
              <a:t> this error to update the weights using a backward pass. </a:t>
            </a:r>
          </a:p>
          <a:p>
            <a:r>
              <a:rPr lang="en-US" dirty="0" smtClean="0"/>
              <a:t>We will calculate the error at w1 as</a:t>
            </a:r>
          </a:p>
          <a:p>
            <a:endParaRPr lang="en-US" dirty="0"/>
          </a:p>
        </p:txBody>
      </p:sp>
      <p:pic>
        <p:nvPicPr>
          <p:cNvPr id="4" name="Picture 3" descr="Backpropagation Process in Deep Neural Network"/>
          <p:cNvPicPr/>
          <p:nvPr/>
        </p:nvPicPr>
        <p:blipFill>
          <a:blip r:embed="rId2"/>
          <a:srcRect/>
          <a:stretch>
            <a:fillRect/>
          </a:stretch>
        </p:blipFill>
        <p:spPr bwMode="auto">
          <a:xfrm>
            <a:off x="685800" y="2926714"/>
            <a:ext cx="6629400" cy="24834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10000"/>
          </a:bodyPr>
          <a:lstStyle/>
          <a:p>
            <a:r>
              <a:rPr lang="en-US" dirty="0" smtClean="0"/>
              <a:t>In the same way, we calculate w2</a:t>
            </a:r>
            <a:r>
              <a:rPr lang="en-US" baseline="-25000" dirty="0" smtClean="0"/>
              <a:t>new</a:t>
            </a:r>
            <a:r>
              <a:rPr lang="en-US" dirty="0" smtClean="0"/>
              <a:t>,w3</a:t>
            </a:r>
            <a:r>
              <a:rPr lang="en-US" baseline="-25000" dirty="0" smtClean="0"/>
              <a:t>new</a:t>
            </a:r>
            <a:r>
              <a:rPr lang="en-US" dirty="0" smtClean="0"/>
              <a:t>, and w4 and this will give us the following values </a:t>
            </a:r>
          </a:p>
          <a:p>
            <a:r>
              <a:rPr lang="en-US" dirty="0" smtClean="0"/>
              <a:t>                        </a:t>
            </a:r>
            <a:r>
              <a:rPr lang="en-US" b="1" dirty="0" smtClean="0"/>
              <a:t>w1</a:t>
            </a:r>
            <a:r>
              <a:rPr lang="en-US" b="1" baseline="-25000" dirty="0" smtClean="0"/>
              <a:t>new</a:t>
            </a:r>
            <a:r>
              <a:rPr lang="en-US" b="1" dirty="0" smtClean="0"/>
              <a:t>=0.149780716</a:t>
            </a:r>
            <a:r>
              <a:rPr lang="en-US" dirty="0" smtClean="0"/>
              <a:t/>
            </a:r>
            <a:br>
              <a:rPr lang="en-US" dirty="0" smtClean="0"/>
            </a:br>
            <a:r>
              <a:rPr lang="en-US" dirty="0" smtClean="0"/>
              <a:t>                        </a:t>
            </a:r>
            <a:r>
              <a:rPr lang="en-US" b="1" dirty="0" smtClean="0"/>
              <a:t>w2</a:t>
            </a:r>
            <a:r>
              <a:rPr lang="en-US" b="1" baseline="-25000" dirty="0" smtClean="0"/>
              <a:t>new</a:t>
            </a:r>
            <a:r>
              <a:rPr lang="en-US" b="1" dirty="0" smtClean="0"/>
              <a:t>=0.19956143</a:t>
            </a:r>
            <a:r>
              <a:rPr lang="en-US" dirty="0" smtClean="0"/>
              <a:t/>
            </a:r>
            <a:br>
              <a:rPr lang="en-US" dirty="0" smtClean="0"/>
            </a:br>
            <a:r>
              <a:rPr lang="en-US" dirty="0" smtClean="0"/>
              <a:t>                        </a:t>
            </a:r>
            <a:r>
              <a:rPr lang="en-US" b="1" dirty="0" smtClean="0"/>
              <a:t>w3</a:t>
            </a:r>
            <a:r>
              <a:rPr lang="en-US" b="1" baseline="-25000" dirty="0" smtClean="0"/>
              <a:t>new</a:t>
            </a:r>
            <a:r>
              <a:rPr lang="en-US" b="1" dirty="0" smtClean="0"/>
              <a:t>=0.24975114</a:t>
            </a:r>
            <a:r>
              <a:rPr lang="en-US" dirty="0" smtClean="0"/>
              <a:t/>
            </a:r>
            <a:br>
              <a:rPr lang="en-US" dirty="0" smtClean="0"/>
            </a:br>
            <a:r>
              <a:rPr lang="en-US" dirty="0" smtClean="0"/>
              <a:t>                        </a:t>
            </a:r>
            <a:r>
              <a:rPr lang="en-US" b="1" dirty="0" smtClean="0"/>
              <a:t>w4</a:t>
            </a:r>
            <a:r>
              <a:rPr lang="en-US" b="1" baseline="-25000" dirty="0" smtClean="0"/>
              <a:t>new</a:t>
            </a:r>
            <a:r>
              <a:rPr lang="en-US" b="1" dirty="0" smtClean="0"/>
              <a:t>=0.29950229</a:t>
            </a:r>
            <a:endParaRPr lang="en-US" dirty="0" smtClean="0"/>
          </a:p>
          <a:p>
            <a:pPr algn="just"/>
            <a:r>
              <a:rPr lang="en-US" dirty="0" smtClean="0"/>
              <a:t>We have updated all the weights. We found the error 0.298371109 on the network when we fed forward the 0.05 and 0.1 inputs. In the first round of </a:t>
            </a:r>
            <a:r>
              <a:rPr lang="en-US" dirty="0" err="1" smtClean="0"/>
              <a:t>Backpropagation</a:t>
            </a:r>
            <a:r>
              <a:rPr lang="en-US" dirty="0" smtClean="0"/>
              <a:t>, the total error is down to 0.291027924. After repeating this process 10,000, the total error is down to 0.0000351085. At this point, the outputs neurons generate 0.159121960 and 0.984065734 i.e., nearby our target value when we feed forward the 0.05 and 0.1</a:t>
            </a:r>
          </a:p>
          <a:p>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Improving Deep Networks</a:t>
            </a:r>
            <a:endParaRPr lang="en-US" dirty="0"/>
          </a:p>
        </p:txBody>
      </p:sp>
      <p:sp>
        <p:nvSpPr>
          <p:cNvPr id="3" name="Content Placeholder 2"/>
          <p:cNvSpPr>
            <a:spLocks noGrp="1"/>
          </p:cNvSpPr>
          <p:nvPr>
            <p:ph sz="quarter" idx="1"/>
          </p:nvPr>
        </p:nvSpPr>
        <p:spPr>
          <a:xfrm>
            <a:off x="228600" y="1219200"/>
            <a:ext cx="8686800" cy="5486400"/>
          </a:xfrm>
        </p:spPr>
        <p:txBody>
          <a:bodyPr>
            <a:normAutofit/>
          </a:bodyPr>
          <a:lstStyle/>
          <a:p>
            <a:pPr algn="just"/>
            <a:r>
              <a:rPr lang="en-US" dirty="0" smtClean="0"/>
              <a:t>A </a:t>
            </a:r>
            <a:r>
              <a:rPr lang="en-US" b="1" dirty="0" smtClean="0"/>
              <a:t>Deep Learning Model</a:t>
            </a:r>
            <a:r>
              <a:rPr lang="en-US" dirty="0" smtClean="0"/>
              <a:t> usually has variable parameters that must be set before training called </a:t>
            </a:r>
            <a:r>
              <a:rPr lang="en-US" b="1" dirty="0" err="1" smtClean="0"/>
              <a:t>Hyperparameters</a:t>
            </a:r>
            <a:r>
              <a:rPr lang="en-US" dirty="0" smtClean="0"/>
              <a:t>. These values affect the results of the model effectively. So the optimal values for these parameters to obtain the best results should be found. </a:t>
            </a:r>
          </a:p>
          <a:p>
            <a:pPr algn="just"/>
            <a:r>
              <a:rPr lang="en-US" dirty="0" smtClean="0"/>
              <a:t>Finding the most optimal combination is called </a:t>
            </a:r>
            <a:r>
              <a:rPr lang="en-US" b="1" dirty="0" err="1" smtClean="0"/>
              <a:t>Hyperparameter</a:t>
            </a:r>
            <a:r>
              <a:rPr lang="en-US" b="1" dirty="0" smtClean="0"/>
              <a:t> Tuning</a:t>
            </a:r>
            <a:r>
              <a:rPr lang="en-US" dirty="0" smtClean="0"/>
              <a:t>.</a:t>
            </a:r>
          </a:p>
          <a:p>
            <a:pPr algn="just"/>
            <a:r>
              <a:rPr lang="en-US" dirty="0" err="1" smtClean="0"/>
              <a:t>Hyperparameter</a:t>
            </a:r>
            <a:r>
              <a:rPr lang="en-US" dirty="0" smtClean="0"/>
              <a:t> tuning can improve a neural network's </a:t>
            </a:r>
            <a:r>
              <a:rPr lang="en-US" b="1" dirty="0" smtClean="0"/>
              <a:t>accuracy and efficiency</a:t>
            </a:r>
            <a:r>
              <a:rPr lang="en-US" dirty="0" smtClean="0"/>
              <a:t> and is essential for getting good results.</a:t>
            </a:r>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400800"/>
          </a:xfrm>
        </p:spPr>
        <p:txBody>
          <a:bodyPr>
            <a:normAutofit/>
          </a:bodyPr>
          <a:lstStyle/>
          <a:p>
            <a:pPr algn="just"/>
            <a:r>
              <a:rPr lang="en-US" dirty="0" smtClean="0"/>
              <a:t>Here are a few methods that can be used to avoid </a:t>
            </a:r>
            <a:r>
              <a:rPr lang="en-US" dirty="0" err="1" smtClean="0"/>
              <a:t>overfitting</a:t>
            </a:r>
            <a:r>
              <a:rPr lang="en-US" dirty="0" smtClean="0"/>
              <a:t> during Neural Network </a:t>
            </a:r>
            <a:r>
              <a:rPr lang="en-US" b="1" dirty="0" err="1" smtClean="0"/>
              <a:t>hyperparameter</a:t>
            </a:r>
            <a:r>
              <a:rPr lang="en-US" b="1" dirty="0" smtClean="0"/>
              <a:t> tuning:</a:t>
            </a:r>
            <a:endParaRPr lang="en-US" dirty="0" smtClean="0"/>
          </a:p>
          <a:p>
            <a:pPr lvl="0" algn="just"/>
            <a:r>
              <a:rPr lang="en-US" dirty="0" smtClean="0"/>
              <a:t>Use a </a:t>
            </a:r>
            <a:r>
              <a:rPr lang="en-US" b="1" dirty="0" smtClean="0"/>
              <a:t>separate validation set</a:t>
            </a:r>
            <a:r>
              <a:rPr lang="en-US" dirty="0" smtClean="0"/>
              <a:t> to evaluate the model's performance during </a:t>
            </a:r>
            <a:r>
              <a:rPr lang="en-US" dirty="0" err="1" smtClean="0"/>
              <a:t>hyperparameter</a:t>
            </a:r>
            <a:r>
              <a:rPr lang="en-US" dirty="0" smtClean="0"/>
              <a:t> tuning.</a:t>
            </a:r>
          </a:p>
          <a:p>
            <a:pPr lvl="0" algn="just"/>
            <a:r>
              <a:rPr lang="en-US" dirty="0" smtClean="0"/>
              <a:t>Using </a:t>
            </a:r>
            <a:r>
              <a:rPr lang="en-US" b="1" dirty="0" smtClean="0"/>
              <a:t>regularization techniques</a:t>
            </a:r>
            <a:r>
              <a:rPr lang="en-US" dirty="0" smtClean="0"/>
              <a:t>, such as weight decay (L2 regularization) or dropout, prevents the model from </a:t>
            </a:r>
            <a:r>
              <a:rPr lang="en-US" dirty="0" err="1" smtClean="0"/>
              <a:t>overfitting</a:t>
            </a:r>
            <a:r>
              <a:rPr lang="en-US" dirty="0" smtClean="0"/>
              <a:t> to the training data.</a:t>
            </a:r>
          </a:p>
          <a:p>
            <a:pPr lvl="0" algn="just"/>
            <a:r>
              <a:rPr lang="en-US" dirty="0" smtClean="0"/>
              <a:t>Implement </a:t>
            </a:r>
            <a:r>
              <a:rPr lang="en-US" b="1" dirty="0" smtClean="0"/>
              <a:t>early stopping</a:t>
            </a:r>
            <a:r>
              <a:rPr lang="en-US" dirty="0" smtClean="0"/>
              <a:t> from terminating the training process if the model's performance on the validation set starts to degrade.</a:t>
            </a:r>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Functions for </a:t>
            </a:r>
            <a:r>
              <a:rPr lang="en-US" b="1" dirty="0" err="1" smtClean="0"/>
              <a:t>Hyperparameter</a:t>
            </a:r>
            <a:r>
              <a:rPr lang="en-US" b="1" dirty="0" smtClean="0"/>
              <a:t> Tuning</a:t>
            </a:r>
            <a:endParaRPr lang="en-US" dirty="0"/>
          </a:p>
        </p:txBody>
      </p:sp>
      <p:sp>
        <p:nvSpPr>
          <p:cNvPr id="3" name="Content Placeholder 2"/>
          <p:cNvSpPr>
            <a:spLocks noGrp="1"/>
          </p:cNvSpPr>
          <p:nvPr>
            <p:ph sz="quarter" idx="1"/>
          </p:nvPr>
        </p:nvSpPr>
        <p:spPr/>
        <p:txBody>
          <a:bodyPr/>
          <a:lstStyle/>
          <a:p>
            <a:pPr algn="just"/>
            <a:r>
              <a:rPr lang="en-US" dirty="0" smtClean="0"/>
              <a:t>Several approaches can be used to perform </a:t>
            </a:r>
            <a:r>
              <a:rPr lang="en-US" dirty="0" err="1" smtClean="0"/>
              <a:t>hyperparameter</a:t>
            </a:r>
            <a:r>
              <a:rPr lang="en-US" dirty="0" smtClean="0"/>
              <a:t> tuning on neural networks</a:t>
            </a:r>
          </a:p>
          <a:p>
            <a:r>
              <a:rPr lang="en-US" b="1" dirty="0" smtClean="0"/>
              <a:t>Grid search</a:t>
            </a:r>
            <a:r>
              <a:rPr lang="en-US" dirty="0" smtClean="0"/>
              <a:t>, </a:t>
            </a:r>
          </a:p>
          <a:p>
            <a:r>
              <a:rPr lang="en-US" b="1" dirty="0" smtClean="0"/>
              <a:t>Random search</a:t>
            </a:r>
            <a:r>
              <a:rPr lang="en-US" dirty="0" smtClean="0"/>
              <a:t>, and </a:t>
            </a:r>
          </a:p>
          <a:p>
            <a:r>
              <a:rPr lang="en-US" b="1" dirty="0" smtClean="0"/>
              <a:t>Bayesian optimization</a:t>
            </a:r>
            <a:r>
              <a:rPr lang="en-US" dirty="0" smtClean="0"/>
              <a:t>.</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sz="quarter" idx="1"/>
          </p:nvPr>
        </p:nvPicPr>
        <p:blipFill>
          <a:blip r:embed="rId2"/>
          <a:srcRect/>
          <a:stretch>
            <a:fillRect/>
          </a:stretch>
        </p:blipFill>
        <p:spPr bwMode="auto">
          <a:xfrm>
            <a:off x="304800" y="1143000"/>
            <a:ext cx="80772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Grid Search</a:t>
            </a:r>
            <a:endParaRPr lang="en-US" dirty="0"/>
          </a:p>
        </p:txBody>
      </p:sp>
      <p:sp>
        <p:nvSpPr>
          <p:cNvPr id="3" name="Content Placeholder 2"/>
          <p:cNvSpPr>
            <a:spLocks noGrp="1"/>
          </p:cNvSpPr>
          <p:nvPr>
            <p:ph sz="quarter" idx="1"/>
          </p:nvPr>
        </p:nvSpPr>
        <p:spPr/>
        <p:txBody>
          <a:bodyPr>
            <a:normAutofit/>
          </a:bodyPr>
          <a:lstStyle/>
          <a:p>
            <a:pPr algn="just"/>
            <a:r>
              <a:rPr lang="en-US" b="1" dirty="0" smtClean="0"/>
              <a:t>Grid search</a:t>
            </a:r>
            <a:r>
              <a:rPr lang="en-US" dirty="0" smtClean="0"/>
              <a:t> is a </a:t>
            </a:r>
            <a:r>
              <a:rPr lang="en-US" dirty="0" err="1" smtClean="0"/>
              <a:t>hyperparameter</a:t>
            </a:r>
            <a:r>
              <a:rPr lang="en-US" dirty="0" smtClean="0"/>
              <a:t> tuning method involving specifying a grid of </a:t>
            </a:r>
            <a:r>
              <a:rPr lang="en-US" dirty="0" err="1" smtClean="0"/>
              <a:t>hyperparameter</a:t>
            </a:r>
            <a:r>
              <a:rPr lang="en-US" dirty="0" smtClean="0"/>
              <a:t> values and training and evaluating the neural network model for </a:t>
            </a:r>
            <a:r>
              <a:rPr lang="en-US" b="1" dirty="0" smtClean="0"/>
              <a:t>each combination of </a:t>
            </a:r>
            <a:r>
              <a:rPr lang="en-US" b="1" dirty="0" err="1" smtClean="0"/>
              <a:t>hyperparameter</a:t>
            </a:r>
            <a:r>
              <a:rPr lang="en-US" b="1" dirty="0" smtClean="0"/>
              <a:t> values</a:t>
            </a:r>
            <a:r>
              <a:rPr lang="en-US" dirty="0" smtClean="0"/>
              <a:t>. </a:t>
            </a:r>
          </a:p>
          <a:p>
            <a:pPr algn="just"/>
            <a:r>
              <a:rPr lang="en-US" dirty="0" smtClean="0"/>
              <a:t>For example, if we want to tune the learning rate and the batch size of a neural network, we can specify a grid of possible values for the </a:t>
            </a:r>
            <a:r>
              <a:rPr lang="en-US" b="1" dirty="0" smtClean="0"/>
              <a:t>learning rate</a:t>
            </a:r>
            <a:r>
              <a:rPr lang="en-US" dirty="0" smtClean="0"/>
              <a:t> (e.g., 0.1, 0.01, 0.001) and the </a:t>
            </a:r>
            <a:r>
              <a:rPr lang="en-US" b="1" dirty="0" smtClean="0"/>
              <a:t>batch size</a:t>
            </a:r>
            <a:r>
              <a:rPr lang="en-US" dirty="0" smtClean="0"/>
              <a:t> (e.g., 32, 64, 128) and train and evaluate the model for each combination of values. The combination of </a:t>
            </a:r>
            <a:r>
              <a:rPr lang="en-US" dirty="0" err="1" smtClean="0"/>
              <a:t>hyperparameters</a:t>
            </a:r>
            <a:r>
              <a:rPr lang="en-US" dirty="0" smtClean="0"/>
              <a:t> that results in the best results on the validation set is then selected as the optimal set of </a:t>
            </a:r>
            <a:r>
              <a:rPr lang="en-US" dirty="0" err="1" smtClean="0"/>
              <a:t>hyperparameters</a:t>
            </a:r>
            <a:r>
              <a:rPr lang="en-US" dirty="0" smtClean="0"/>
              <a:t>.</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search</a:t>
            </a:r>
            <a:endParaRPr lang="en-US" dirty="0"/>
          </a:p>
        </p:txBody>
      </p:sp>
      <p:sp>
        <p:nvSpPr>
          <p:cNvPr id="3" name="Content Placeholder 2"/>
          <p:cNvSpPr>
            <a:spLocks noGrp="1"/>
          </p:cNvSpPr>
          <p:nvPr>
            <p:ph sz="quarter" idx="1"/>
          </p:nvPr>
        </p:nvSpPr>
        <p:spPr>
          <a:xfrm>
            <a:off x="304800" y="1219200"/>
            <a:ext cx="8382000" cy="4937760"/>
          </a:xfrm>
        </p:spPr>
        <p:txBody>
          <a:bodyPr>
            <a:normAutofit/>
          </a:bodyPr>
          <a:lstStyle/>
          <a:p>
            <a:pPr algn="just"/>
            <a:r>
              <a:rPr lang="en-US" dirty="0" smtClean="0"/>
              <a:t>Random search is another </a:t>
            </a:r>
            <a:r>
              <a:rPr lang="en-US" dirty="0" err="1" smtClean="0"/>
              <a:t>hyperparameter</a:t>
            </a:r>
            <a:r>
              <a:rPr lang="en-US" dirty="0" smtClean="0"/>
              <a:t> tuning method involving </a:t>
            </a:r>
            <a:r>
              <a:rPr lang="en-US" b="1" dirty="0" smtClean="0"/>
              <a:t>sampling random combinations</a:t>
            </a:r>
            <a:r>
              <a:rPr lang="en-US" dirty="0" smtClean="0"/>
              <a:t> of </a:t>
            </a:r>
            <a:r>
              <a:rPr lang="en-US" dirty="0" err="1" smtClean="0"/>
              <a:t>hyperparameter</a:t>
            </a:r>
            <a:r>
              <a:rPr lang="en-US" dirty="0" smtClean="0"/>
              <a:t> values and training and evaluating the neural network model for each combination. Random search can be </a:t>
            </a:r>
            <a:r>
              <a:rPr lang="en-US" b="1" dirty="0" smtClean="0"/>
              <a:t>more efficient than grid search</a:t>
            </a:r>
            <a:r>
              <a:rPr lang="en-US" dirty="0" smtClean="0"/>
              <a:t>, </a:t>
            </a:r>
          </a:p>
          <a:p>
            <a:pPr algn="just"/>
            <a:r>
              <a:rPr lang="en-US" dirty="0" smtClean="0"/>
              <a:t>Random Search can be better than grid search, especially if the most optimal values for the model are in between the specified values. For example, if the most optimal </a:t>
            </a:r>
            <a:r>
              <a:rPr lang="en-US" b="1" dirty="0" smtClean="0"/>
              <a:t>learning rate</a:t>
            </a:r>
            <a:r>
              <a:rPr lang="en-US" dirty="0" smtClean="0"/>
              <a:t> is 0.05 and the specified values are 0.01 and 0.1, then the grid search will not give good results, while the random search can get the optimal value.</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Random Search</a:t>
            </a:r>
            <a:br>
              <a:rPr lang="en-US" b="1" dirty="0" smtClean="0"/>
            </a:br>
            <a:endParaRPr lang="en-US" dirty="0"/>
          </a:p>
        </p:txBody>
      </p:sp>
      <p:pic>
        <p:nvPicPr>
          <p:cNvPr id="4" name="Content Placeholder 3"/>
          <p:cNvPicPr>
            <a:picLocks noGrp="1"/>
          </p:cNvPicPr>
          <p:nvPr>
            <p:ph sz="quarter" idx="1"/>
          </p:nvPr>
        </p:nvPicPr>
        <p:blipFill>
          <a:blip r:embed="rId2"/>
          <a:srcRect/>
          <a:stretch>
            <a:fillRect/>
          </a:stretch>
        </p:blipFill>
        <p:spPr bwMode="auto">
          <a:xfrm>
            <a:off x="381000" y="762000"/>
            <a:ext cx="8763000" cy="5486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Bayesian optimization</a:t>
            </a:r>
            <a:endParaRPr lang="en-US" dirty="0"/>
          </a:p>
        </p:txBody>
      </p:sp>
      <p:sp>
        <p:nvSpPr>
          <p:cNvPr id="3" name="Content Placeholder 2"/>
          <p:cNvSpPr>
            <a:spLocks noGrp="1"/>
          </p:cNvSpPr>
          <p:nvPr>
            <p:ph sz="quarter" idx="1"/>
          </p:nvPr>
        </p:nvSpPr>
        <p:spPr>
          <a:xfrm>
            <a:off x="228600" y="1219200"/>
            <a:ext cx="8610600" cy="5410200"/>
          </a:xfrm>
        </p:spPr>
        <p:txBody>
          <a:bodyPr>
            <a:normAutofit/>
          </a:bodyPr>
          <a:lstStyle/>
          <a:p>
            <a:pPr algn="just"/>
            <a:r>
              <a:rPr lang="en-US" dirty="0" smtClean="0"/>
              <a:t>Bayesian optimization uses the </a:t>
            </a:r>
            <a:r>
              <a:rPr lang="en-US" b="1" dirty="0" smtClean="0"/>
              <a:t>previous values of scores and probabilities</a:t>
            </a:r>
            <a:r>
              <a:rPr lang="en-US" dirty="0" smtClean="0"/>
              <a:t> to make an informed decision in the following iterations. Allowing the model to focus on the </a:t>
            </a:r>
            <a:r>
              <a:rPr lang="en-US" dirty="0" err="1" smtClean="0"/>
              <a:t>hyperparameters</a:t>
            </a:r>
            <a:r>
              <a:rPr lang="en-US" dirty="0" smtClean="0"/>
              <a:t> that can significantly change the results while not focusing on the parameters doesn't affect the result much.</a:t>
            </a:r>
          </a:p>
          <a:p>
            <a:pPr algn="just"/>
            <a:r>
              <a:rPr lang="en-US" dirty="0" smtClean="0"/>
              <a:t>Bayesian optimization can be </a:t>
            </a:r>
            <a:r>
              <a:rPr lang="en-US" b="1" dirty="0" smtClean="0"/>
              <a:t>more efficient than grid search or random search</a:t>
            </a:r>
            <a:r>
              <a:rPr lang="en-US" dirty="0" smtClean="0"/>
              <a:t>, as it can adaptively select the next set of </a:t>
            </a:r>
            <a:r>
              <a:rPr lang="en-US" dirty="0" err="1" smtClean="0"/>
              <a:t>hyperparameters</a:t>
            </a:r>
            <a:r>
              <a:rPr lang="en-US" dirty="0" smtClean="0"/>
              <a:t> to evaluate based on the previous evaluations. However, it can be more computationally expensive and require more resources.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Optimization Algorithms For Training Neural Network</a:t>
            </a:r>
            <a:endParaRPr lang="en-US" dirty="0"/>
          </a:p>
        </p:txBody>
      </p:sp>
      <p:sp>
        <p:nvSpPr>
          <p:cNvPr id="3" name="Content Placeholder 2"/>
          <p:cNvSpPr>
            <a:spLocks noGrp="1"/>
          </p:cNvSpPr>
          <p:nvPr>
            <p:ph sz="quarter" idx="1"/>
          </p:nvPr>
        </p:nvSpPr>
        <p:spPr>
          <a:xfrm>
            <a:off x="304800" y="1219200"/>
            <a:ext cx="8534400" cy="5257800"/>
          </a:xfrm>
        </p:spPr>
        <p:txBody>
          <a:bodyPr>
            <a:normAutofit fontScale="92500" lnSpcReduction="10000"/>
          </a:bodyPr>
          <a:lstStyle/>
          <a:p>
            <a:pPr algn="just"/>
            <a:r>
              <a:rPr lang="en-US" dirty="0" smtClean="0"/>
              <a:t>Optimizers are algorithms or methods used to change the attributes of your neural network such as weights and learning rate in order to reduce the losses</a:t>
            </a:r>
          </a:p>
          <a:p>
            <a:r>
              <a:rPr lang="en-US" b="1" dirty="0" smtClean="0"/>
              <a:t>Gradient Descent</a:t>
            </a:r>
            <a:endParaRPr lang="en-US" dirty="0" smtClean="0"/>
          </a:p>
          <a:p>
            <a:pPr algn="just"/>
            <a:r>
              <a:rPr lang="en-US" dirty="0" smtClean="0"/>
              <a:t>Gradient Descent is the most basic but most used optimization algorithm. It’s used heavily in linear regression and classification algorithms. </a:t>
            </a:r>
            <a:r>
              <a:rPr lang="en-US" dirty="0" err="1" smtClean="0"/>
              <a:t>Backpropagation</a:t>
            </a:r>
            <a:r>
              <a:rPr lang="en-US" dirty="0" smtClean="0"/>
              <a:t> in neural networks also uses a gradient descent algorithm.</a:t>
            </a:r>
          </a:p>
          <a:p>
            <a:pPr algn="just"/>
            <a:r>
              <a:rPr lang="en-US" dirty="0" smtClean="0"/>
              <a:t>Gradient descent is a first-order optimization algorithm which is dependent on the first order derivative of a loss function. It calculates that which way the weights should be altered so that the function can reach a minima. Through </a:t>
            </a:r>
            <a:r>
              <a:rPr lang="en-US" dirty="0" err="1" smtClean="0"/>
              <a:t>backpropagation</a:t>
            </a:r>
            <a:r>
              <a:rPr lang="en-US" dirty="0" smtClean="0"/>
              <a:t>, the loss is transferred from one layer to another and the model’s parameters also known as weights are modified depending on the losses so that the loss can be minimized.</a:t>
            </a:r>
          </a:p>
          <a:p>
            <a:pPr algn="just"/>
            <a:endParaRPr lang="en-US" dirty="0" smtClean="0"/>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914400"/>
            <a:ext cx="8229600" cy="4937760"/>
          </a:xfrm>
        </p:spPr>
        <p:txBody>
          <a:bodyPr>
            <a:normAutofit/>
          </a:bodyPr>
          <a:lstStyle/>
          <a:p>
            <a:r>
              <a:rPr lang="en-US" b="1" dirty="0" smtClean="0"/>
              <a:t>Stochastic Gradient Descent</a:t>
            </a:r>
            <a:endParaRPr lang="en-US" dirty="0" smtClean="0"/>
          </a:p>
          <a:p>
            <a:pPr algn="just"/>
            <a:r>
              <a:rPr lang="en-US" dirty="0" smtClean="0"/>
              <a:t>It’s a variant of Gradient Descent. It tries to update the model’s parameters more frequently. In this, the model parameters are altered after computation of loss on each training example. So, if the dataset contains 1000 rows SGD will update the model parameters 1000 times in one cycle of dataset instead of one time as in Gradient Descent.</a:t>
            </a:r>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Regularization</a:t>
            </a:r>
            <a:endParaRPr lang="en-US" dirty="0"/>
          </a:p>
        </p:txBody>
      </p:sp>
      <p:sp>
        <p:nvSpPr>
          <p:cNvPr id="3" name="Content Placeholder 2"/>
          <p:cNvSpPr>
            <a:spLocks noGrp="1"/>
          </p:cNvSpPr>
          <p:nvPr>
            <p:ph sz="quarter" idx="1"/>
          </p:nvPr>
        </p:nvSpPr>
        <p:spPr>
          <a:xfrm>
            <a:off x="228600" y="1219200"/>
            <a:ext cx="8458200" cy="5257800"/>
          </a:xfrm>
        </p:spPr>
        <p:txBody>
          <a:bodyPr>
            <a:normAutofit/>
          </a:bodyPr>
          <a:lstStyle/>
          <a:p>
            <a:pPr algn="just"/>
            <a:r>
              <a:rPr lang="en-US" sz="3200" b="1" dirty="0" smtClean="0"/>
              <a:t>Regularization</a:t>
            </a:r>
            <a:r>
              <a:rPr lang="en-US" sz="3200" dirty="0" smtClean="0"/>
              <a:t> in deep neural networks is a set of techniques used to prevent </a:t>
            </a:r>
            <a:r>
              <a:rPr lang="en-US" sz="3200" dirty="0" err="1" smtClean="0"/>
              <a:t>overfitting</a:t>
            </a:r>
            <a:r>
              <a:rPr lang="en-US" sz="3200" dirty="0" smtClean="0"/>
              <a:t>, which occurs when a model learns to fit the training data very closely but performs poorly on unseen data. </a:t>
            </a:r>
            <a:endParaRPr lang="en-US" sz="3200" dirty="0" smtClean="0"/>
          </a:p>
          <a:p>
            <a:pPr algn="just">
              <a:buNone/>
            </a:pPr>
            <a:endParaRPr lang="en-US" sz="3200" dirty="0" smtClean="0"/>
          </a:p>
          <a:p>
            <a:pPr algn="just"/>
            <a:r>
              <a:rPr lang="en-US" sz="3200" dirty="0" smtClean="0"/>
              <a:t>Regularization methods aim to encourage the model to generalize better by adding constraints or penalties to the loss function,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229600" cy="5791200"/>
          </a:xfrm>
        </p:spPr>
        <p:txBody>
          <a:bodyPr>
            <a:normAutofit/>
          </a:bodyPr>
          <a:lstStyle/>
          <a:p>
            <a:pPr lvl="0"/>
            <a:r>
              <a:rPr lang="en-US" sz="2800" b="1" dirty="0" smtClean="0"/>
              <a:t>L1 and L2 Regularization</a:t>
            </a:r>
            <a:r>
              <a:rPr lang="en-US" sz="2800" dirty="0" smtClean="0"/>
              <a:t>:</a:t>
            </a:r>
            <a:endParaRPr lang="en-US" sz="2400" dirty="0" smtClean="0"/>
          </a:p>
          <a:p>
            <a:pPr lvl="1" algn="just"/>
            <a:r>
              <a:rPr lang="en-US" sz="2400" b="1" dirty="0" smtClean="0"/>
              <a:t>L1 Regularization (Lasso)</a:t>
            </a:r>
            <a:r>
              <a:rPr lang="en-US" sz="2400" dirty="0" smtClean="0"/>
              <a:t>: This adds a penalty term to the loss function that is proportional to the absolute values of the model's weights. </a:t>
            </a:r>
            <a:endParaRPr lang="en-US" sz="2000" dirty="0" smtClean="0"/>
          </a:p>
          <a:p>
            <a:pPr lvl="1" algn="just"/>
            <a:r>
              <a:rPr lang="en-US" sz="2400" b="1" dirty="0" smtClean="0"/>
              <a:t>L2 Regularization (Ridge)</a:t>
            </a:r>
            <a:r>
              <a:rPr lang="en-US" sz="2400" dirty="0" smtClean="0"/>
              <a:t>: L2 regularization adds a penalty term to the loss function that is proportional to the square of the model's weights. </a:t>
            </a:r>
            <a:endParaRPr lang="en-US" sz="2000" dirty="0" smtClean="0"/>
          </a:p>
          <a:p>
            <a:pPr lvl="0"/>
            <a:r>
              <a:rPr lang="en-US" sz="2800" b="1" dirty="0" smtClean="0"/>
              <a:t>Dropout</a:t>
            </a:r>
            <a:r>
              <a:rPr lang="en-US" sz="2800" dirty="0" smtClean="0"/>
              <a:t>:</a:t>
            </a:r>
            <a:endParaRPr lang="en-US" sz="2400" dirty="0" smtClean="0"/>
          </a:p>
          <a:p>
            <a:pPr lvl="1" algn="just"/>
            <a:r>
              <a:rPr lang="en-US" sz="2400" dirty="0" smtClean="0"/>
              <a:t>Dropout is a regularization technique that randomly deactivates (sets to zero) a fraction of neurons during each forward and backward pass of training. This prevents any single neuron from becoming overly specialized and encourages the network to rely on a more robust set of features.</a:t>
            </a:r>
            <a:endParaRPr lang="en-US" sz="2000" dirty="0" smtClean="0"/>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8229600" cy="6248400"/>
          </a:xfrm>
        </p:spPr>
        <p:txBody>
          <a:bodyPr>
            <a:normAutofit fontScale="85000" lnSpcReduction="20000"/>
          </a:bodyPr>
          <a:lstStyle/>
          <a:p>
            <a:pPr lvl="0"/>
            <a:r>
              <a:rPr lang="en-US" sz="2800" b="1" dirty="0" smtClean="0"/>
              <a:t>Early Stopping</a:t>
            </a:r>
            <a:r>
              <a:rPr lang="en-US" sz="2800" dirty="0" smtClean="0"/>
              <a:t>:</a:t>
            </a:r>
            <a:endParaRPr lang="en-US" sz="2400" dirty="0" smtClean="0"/>
          </a:p>
          <a:p>
            <a:pPr lvl="1"/>
            <a:r>
              <a:rPr lang="en-US" sz="2400" dirty="0" smtClean="0"/>
              <a:t>Early stopping is a simple but effective regularization technique. It involves monitoring the model's performance on a validation dataset during training. If the performance starts to degrade (indicating </a:t>
            </a:r>
            <a:r>
              <a:rPr lang="en-US" sz="2400" dirty="0" err="1" smtClean="0"/>
              <a:t>overfitting</a:t>
            </a:r>
            <a:r>
              <a:rPr lang="en-US" sz="2400" dirty="0" smtClean="0"/>
              <a:t>), training is stopped early to prevent the model from learning noise in the data.</a:t>
            </a:r>
            <a:endParaRPr lang="en-US" sz="2000" dirty="0" smtClean="0"/>
          </a:p>
          <a:p>
            <a:pPr lvl="0"/>
            <a:r>
              <a:rPr lang="en-US" sz="2800" b="1" dirty="0" smtClean="0"/>
              <a:t>Data Augmentation</a:t>
            </a:r>
            <a:r>
              <a:rPr lang="en-US" sz="2800" dirty="0" smtClean="0"/>
              <a:t>:</a:t>
            </a:r>
            <a:endParaRPr lang="en-US" sz="2400" dirty="0" smtClean="0"/>
          </a:p>
          <a:p>
            <a:pPr lvl="1"/>
            <a:r>
              <a:rPr lang="en-US" sz="2400" dirty="0" smtClean="0"/>
              <a:t>Data augmentation involves creating new training examples by applying random transformations (e.g., rotations, flips, crops) to the existing training data. This increases the diversity of the training set and helps the model generalize better.</a:t>
            </a:r>
            <a:endParaRPr lang="en-US" sz="2000" dirty="0" smtClean="0"/>
          </a:p>
          <a:p>
            <a:pPr lvl="0"/>
            <a:r>
              <a:rPr lang="en-US" sz="2800" b="1" dirty="0" smtClean="0"/>
              <a:t>Weight Constraints</a:t>
            </a:r>
            <a:r>
              <a:rPr lang="en-US" sz="2800" dirty="0" smtClean="0"/>
              <a:t>:</a:t>
            </a:r>
            <a:endParaRPr lang="en-US" sz="2400" dirty="0" smtClean="0"/>
          </a:p>
          <a:p>
            <a:pPr lvl="1"/>
            <a:r>
              <a:rPr lang="en-US" sz="2400" dirty="0" smtClean="0"/>
              <a:t>You can apply constraints to the weights of the neural network to limit their values. </a:t>
            </a:r>
            <a:endParaRPr lang="en-US" sz="2000" dirty="0" smtClean="0"/>
          </a:p>
          <a:p>
            <a:pPr lvl="0"/>
            <a:r>
              <a:rPr lang="en-US" sz="2800" b="1" dirty="0" smtClean="0"/>
              <a:t>Noise Injection</a:t>
            </a:r>
            <a:r>
              <a:rPr lang="en-US" sz="2800" dirty="0" smtClean="0"/>
              <a:t>:</a:t>
            </a:r>
            <a:endParaRPr lang="en-US" sz="2400" dirty="0" smtClean="0"/>
          </a:p>
          <a:p>
            <a:pPr lvl="1"/>
            <a:r>
              <a:rPr lang="en-US" sz="2400" dirty="0" smtClean="0"/>
              <a:t>Adding noise to the input data or to the activations of neurons during training can act as a form of regularization. Noise can help the model become more robust to variations in the data.</a:t>
            </a:r>
            <a:endParaRPr lang="en-US" sz="2000" dirty="0" smtClean="0"/>
          </a:p>
          <a:p>
            <a:pPr lvl="0"/>
            <a:r>
              <a:rPr lang="en-US" sz="2800" b="1" dirty="0" err="1" smtClean="0"/>
              <a:t>DropConnect</a:t>
            </a:r>
            <a:r>
              <a:rPr lang="en-US" sz="2800" dirty="0" smtClean="0"/>
              <a:t>:</a:t>
            </a:r>
            <a:endParaRPr lang="en-US" sz="2400" dirty="0" smtClean="0"/>
          </a:p>
          <a:p>
            <a:pPr lvl="1"/>
            <a:r>
              <a:rPr lang="en-US" sz="2400" dirty="0" smtClean="0"/>
              <a:t>Similar to dropout, </a:t>
            </a:r>
            <a:r>
              <a:rPr lang="en-US" sz="2400" dirty="0" err="1" smtClean="0"/>
              <a:t>DropConnect</a:t>
            </a:r>
            <a:r>
              <a:rPr lang="en-US" sz="2400" dirty="0" smtClean="0"/>
              <a:t> randomly sets a fraction of weights to zero during each forward and backward pass. </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lvl="0"/>
            <a:r>
              <a:rPr lang="en-US" sz="2800" b="1" dirty="0" smtClean="0"/>
              <a:t>Ensemble Methods</a:t>
            </a:r>
            <a:r>
              <a:rPr lang="en-US" sz="2800" dirty="0" smtClean="0"/>
              <a:t>:</a:t>
            </a:r>
            <a:endParaRPr lang="en-US" sz="2400" dirty="0" smtClean="0"/>
          </a:p>
          <a:p>
            <a:pPr lvl="1" algn="just"/>
            <a:r>
              <a:rPr lang="en-US" sz="2400" dirty="0" smtClean="0"/>
              <a:t>Combining the predictions of multiple neural networks (ensemble learning) can lead to improved performance and act as a form of regularization. Techniques like bagging and boosting can be applied to neural networks.</a:t>
            </a:r>
            <a:endParaRPr lang="en-US" sz="2000" dirty="0" smtClean="0"/>
          </a:p>
          <a:p>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ample PowerPoint File&amp;quot;&quot;/&gt;&lt;property id=&quot;20307&quot; value=&quot;256&quot;/&gt;&lt;/object&gt;&lt;object type=&quot;3&quot; unique_id=&quot;10005&quot;&gt;&lt;property id=&quot;20148&quot; value=&quot;5&quot;/&gt;&lt;property id=&quot;20300&quot; value=&quot;Slide 2 - &amp;quot;This is a Sample Slide&amp;quot;&quot;/&gt;&lt;property id=&quot;20307&quot; value=&quot;257&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402</TotalTime>
  <Words>2866</Words>
  <Application>Microsoft Office PowerPoint</Application>
  <PresentationFormat>On-screen Show (4:3)</PresentationFormat>
  <Paragraphs>209</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Origin</vt:lpstr>
      <vt:lpstr>Slide 1</vt:lpstr>
      <vt:lpstr>Slide 2</vt:lpstr>
      <vt:lpstr>Slide 3</vt:lpstr>
      <vt:lpstr>Applications of computer vision </vt:lpstr>
      <vt:lpstr>       Human and Machine Language </vt:lpstr>
      <vt:lpstr>Natural Language Processing</vt:lpstr>
      <vt:lpstr>Slide 7</vt:lpstr>
      <vt:lpstr>Some common techniques used in NLP include:</vt:lpstr>
      <vt:lpstr>Slide 9</vt:lpstr>
      <vt:lpstr>Working of Natural Language Processing (NLP) </vt:lpstr>
      <vt:lpstr>Speech Recognition:</vt:lpstr>
      <vt:lpstr>Natural Language Understanding (NLU): </vt:lpstr>
      <vt:lpstr>Natural Language Generation (NLG):</vt:lpstr>
      <vt:lpstr>Slide 14</vt:lpstr>
      <vt:lpstr>Slide 15</vt:lpstr>
      <vt:lpstr>. Question Answering</vt:lpstr>
      <vt:lpstr> Spam Detection</vt:lpstr>
      <vt:lpstr>Sentiment Analysis</vt:lpstr>
      <vt:lpstr> </vt:lpstr>
      <vt:lpstr>What is Artificial Neural Network?</vt:lpstr>
      <vt:lpstr>Slide 21</vt:lpstr>
      <vt:lpstr>.  The typical Artificial Neural Network </vt:lpstr>
      <vt:lpstr>The architecture of an artificial neural network: </vt:lpstr>
      <vt:lpstr>Slide 24</vt:lpstr>
      <vt:lpstr> Artificial Neural Network primarily consists of three layers:</vt:lpstr>
      <vt:lpstr>What are the types of Artificial Neural Networks?</vt:lpstr>
      <vt:lpstr>What are the types of Artificial Neural Networks?</vt:lpstr>
      <vt:lpstr>Training Deep Networks</vt:lpstr>
      <vt:lpstr>Slide 29</vt:lpstr>
      <vt:lpstr>Slide 30</vt:lpstr>
      <vt:lpstr>Slide 31</vt:lpstr>
      <vt:lpstr>Slide 32</vt:lpstr>
      <vt:lpstr>What is a feed forward neural network?</vt:lpstr>
      <vt:lpstr>Backpropagation Process in Deep Neural Network</vt:lpstr>
      <vt:lpstr>Slide 35</vt:lpstr>
      <vt:lpstr>Example</vt:lpstr>
      <vt:lpstr>Slide 37</vt:lpstr>
      <vt:lpstr>Slide 38</vt:lpstr>
      <vt:lpstr>Slide 39</vt:lpstr>
      <vt:lpstr>Slide 40</vt:lpstr>
      <vt:lpstr>Slide 41</vt:lpstr>
      <vt:lpstr>Slide 42</vt:lpstr>
      <vt:lpstr>Slide 43</vt:lpstr>
      <vt:lpstr>Slide 44</vt:lpstr>
      <vt:lpstr>Slide 45</vt:lpstr>
      <vt:lpstr>Slide 46</vt:lpstr>
      <vt:lpstr>Improving Deep Networks</vt:lpstr>
      <vt:lpstr>Slide 48</vt:lpstr>
      <vt:lpstr>Functions for Hyperparameter Tuning</vt:lpstr>
      <vt:lpstr>Slide 50</vt:lpstr>
      <vt:lpstr>Grid Search</vt:lpstr>
      <vt:lpstr>Random search</vt:lpstr>
      <vt:lpstr>Random Search </vt:lpstr>
      <vt:lpstr>Bayesian optimization</vt:lpstr>
      <vt:lpstr>Optimization Algorithms For Training Neural Network</vt:lpstr>
      <vt:lpstr>Slide 56</vt:lpstr>
      <vt:lpstr>Regularization</vt:lpstr>
      <vt:lpstr>Slide 58</vt:lpstr>
      <vt:lpstr>Slide 59</vt:lpstr>
      <vt:lpstr>Slide 60</vt:lpstr>
    </vt:vector>
  </TitlesOfParts>
  <Company>SCTC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PowerPoint File</dc:title>
  <dc:creator>James Falkofske</dc:creator>
  <cp:lastModifiedBy>SRK</cp:lastModifiedBy>
  <cp:revision>49</cp:revision>
  <dcterms:created xsi:type="dcterms:W3CDTF">2009-05-06T22:06:09Z</dcterms:created>
  <dcterms:modified xsi:type="dcterms:W3CDTF">2023-08-30T09:15:18Z</dcterms:modified>
</cp:coreProperties>
</file>